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6858000" cx="12191675"/>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68096" y="1737360"/>
            <a:ext cx="10515600" cy="1280160"/>
          </a:xfrm>
          <a:prstGeom prst="rect">
            <a:avLst/>
          </a:prstGeom>
          <a:noFill/>
        </p:spPr>
        <p:txBody>
          <a:bodyPr wrap="square" lIns="0" rIns="0" tIns="0" bIns="0">
            <a:spAutoFit/>
          </a:bodyPr>
          <a:lstStyle/>
          <a:p>
            <a:r>
              <a:rPr sz="3600" b="1" i="0">
                <a:solidFill>
                  <a:srgbClr val="1A2233"/>
                </a:solidFill>
                <a:latin typeface="Arial"/>
              </a:rPr>
              <a:t>Pushing It Until It Breaks</a:t>
            </a:r>
          </a:p>
        </p:txBody>
      </p:sp>
      <p:sp>
        <p:nvSpPr>
          <p:cNvPr id="3" name="TextBox 2"/>
          <p:cNvSpPr txBox="1"/>
          <p:nvPr/>
        </p:nvSpPr>
        <p:spPr>
          <a:xfrm>
            <a:off x="822960" y="2971800"/>
            <a:ext cx="10424160" cy="1463040"/>
          </a:xfrm>
          <a:prstGeom prst="rect">
            <a:avLst/>
          </a:prstGeom>
          <a:noFill/>
        </p:spPr>
        <p:txBody>
          <a:bodyPr wrap="square" lIns="0" rIns="0" tIns="0" bIns="0">
            <a:spAutoFit/>
          </a:bodyPr>
          <a:lstStyle/>
          <a:p>
            <a:r>
              <a:rPr sz="1900" b="0" i="0">
                <a:solidFill>
                  <a:srgbClr val="434343"/>
                </a:solidFill>
                <a:latin typeface="Arial"/>
              </a:rPr>
              <a:t>Five recordings that map the working envelope of the two-microphone method — and the bookkeeping error that made two of them look physically impossible.</a:t>
            </a:r>
          </a:p>
          <a:p>
            <a:pPr>
              <a:spcBef>
                <a:spcPts val="1400"/>
              </a:spcBef>
            </a:pPr>
            <a:r>
              <a:rPr sz="1700" b="0" i="0">
                <a:solidFill>
                  <a:srgbClr val="434343"/>
                </a:solidFill>
                <a:latin typeface="Arial"/>
              </a:rPr>
              <a:t>Limit-Test Report  ·  revised 18 August 2026    |    Steven Ha  夏國保</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Why these five takes</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The method was confirmed on 11 August from ONE source position: straight in front. That proves it can work, not where it stops working.</a:t>
            </a:r>
          </a:p>
        </p:txBody>
      </p:sp>
      <p:sp>
        <p:nvSpPr>
          <p:cNvPr id="4" name="TextBox 3"/>
          <p:cNvSpPr txBox="1"/>
          <p:nvPr/>
        </p:nvSpPr>
        <p:spPr>
          <a:xfrm>
            <a:off x="640080" y="2011680"/>
            <a:ext cx="10972800" cy="3840480"/>
          </a:xfrm>
          <a:prstGeom prst="rect">
            <a:avLst/>
          </a:prstGeom>
          <a:noFill/>
        </p:spPr>
        <p:txBody>
          <a:bodyPr wrap="square" lIns="0" rIns="0" tIns="0" bIns="0">
            <a:spAutoFit/>
          </a:bodyPr>
          <a:lstStyle/>
          <a:p>
            <a:pPr>
              <a:lnSpc>
                <a:spcPct val="115000"/>
              </a:lnSpc>
              <a:spcAft>
                <a:spcPts val="900"/>
              </a:spcAft>
            </a:pPr>
            <a:r>
              <a:rPr sz="1550" b="1" i="0">
                <a:solidFill>
                  <a:srgbClr val="1A2233"/>
                </a:solidFill>
                <a:latin typeface="Arial"/>
              </a:rPr>
              <a:t>The question:</a:t>
            </a:r>
            <a:r>
              <a:rPr sz="1550" b="0" i="0">
                <a:solidFill>
                  <a:srgbClr val="1A2233"/>
                </a:solidFill>
                <a:latin typeface="Arial"/>
              </a:rPr>
              <a:t>  azimuth, elevation and distance all come out of one pair of recordings. Which of the three survive when the source is not in the easy place?</a:t>
            </a:r>
          </a:p>
          <a:p>
            <a:pPr>
              <a:lnSpc>
                <a:spcPct val="115000"/>
              </a:lnSpc>
              <a:spcAft>
                <a:spcPts val="900"/>
              </a:spcAft>
            </a:pPr>
            <a:r>
              <a:rPr sz="1550" b="1" i="0">
                <a:solidFill>
                  <a:srgbClr val="1A2233"/>
                </a:solidFill>
                <a:latin typeface="Arial"/>
              </a:rPr>
              <a:t>Four ways to be awkward:</a:t>
            </a:r>
            <a:r>
              <a:rPr sz="1550" b="0" i="0">
                <a:solidFill>
                  <a:srgbClr val="1A2233"/>
                </a:solidFill>
                <a:latin typeface="Arial"/>
              </a:rPr>
              <a:t>  stand directly in front of one microphone so it sees you head-on; raise the source above the mics; and go out to the left and right edges.</a:t>
            </a:r>
          </a:p>
          <a:p>
            <a:pPr>
              <a:lnSpc>
                <a:spcPct val="115000"/>
              </a:lnSpc>
              <a:spcAft>
                <a:spcPts val="900"/>
              </a:spcAft>
            </a:pPr>
            <a:r>
              <a:rPr sz="1550" b="1" i="0">
                <a:solidFill>
                  <a:srgbClr val="1A2233"/>
                </a:solidFill>
                <a:latin typeface="Arial"/>
              </a:rPr>
              <a:t>One constant:</a:t>
            </a:r>
            <a:r>
              <a:rPr sz="1550" b="0" i="0">
                <a:solidFill>
                  <a:srgbClr val="1A2233"/>
                </a:solidFill>
                <a:latin typeface="Arial"/>
              </a:rPr>
              <a:t>  every take at 1.50 m, tape-measured, on the same 1 m baseline, in one session.</a:t>
            </a:r>
          </a:p>
          <a:p>
            <a:pPr>
              <a:lnSpc>
                <a:spcPct val="115000"/>
              </a:lnSpc>
              <a:spcAft>
                <a:spcPts val="900"/>
              </a:spcAft>
            </a:pPr>
            <a:r>
              <a:rPr sz="1550" b="1" i="0">
                <a:solidFill>
                  <a:srgbClr val="1A2233"/>
                </a:solidFill>
                <a:latin typeface="Arial"/>
              </a:rPr>
              <a:t>A clap in every take</a:t>
            </a:r>
            <a:r>
              <a:rPr sz="1550" b="0" i="0">
                <a:solidFill>
                  <a:srgbClr val="1A2233"/>
                </a:solidFill>
                <a:latin typeface="Arial"/>
              </a:rPr>
              <a:t>  gives a sharp shared transient for alignment and a clean direct-path measurement.</a:t>
            </a:r>
          </a:p>
          <a:p>
            <a:pPr>
              <a:lnSpc>
                <a:spcPct val="115000"/>
              </a:lnSpc>
              <a:spcAft>
                <a:spcPts val="900"/>
              </a:spcAft>
            </a:pPr>
            <a:r>
              <a:rPr sz="1550" b="0" i="0">
                <a:solidFill>
                  <a:srgbClr val="1A2233"/>
                </a:solidFill>
                <a:latin typeface="Arial"/>
              </a:rPr>
              <a:t/>
            </a:r>
          </a:p>
          <a:p>
            <a:pPr>
              <a:lnSpc>
                <a:spcPct val="115000"/>
              </a:lnSpc>
              <a:spcAft>
                <a:spcPts val="900"/>
              </a:spcAft>
            </a:pPr>
            <a:r>
              <a:rPr sz="1550" b="1" i="0">
                <a:solidFill>
                  <a:srgbClr val="1A2233"/>
                </a:solidFill>
                <a:latin typeface="Arial"/>
              </a:rPr>
              <a:t>What actually came out of it</a:t>
            </a:r>
            <a:r>
              <a:rPr sz="1550" b="0" i="0">
                <a:solidFill>
                  <a:srgbClr val="1A2233"/>
                </a:solidFill>
                <a:latin typeface="Arial"/>
              </a:rPr>
              <a:t>  was not the failure mode we expected. Two takes looked impossible; they were not. The rig had been rebuilt between them and nobody wrote it down.</a:t>
            </a:r>
          </a:p>
        </p:txBody>
      </p:sp>
      <p:sp>
        <p:nvSpPr>
          <p:cNvPr id="5" name="TextBox 4"/>
          <p:cNvSpPr txBox="1"/>
          <p:nvPr/>
        </p:nvSpPr>
        <p:spPr>
          <a:xfrm>
            <a:off x="640080" y="5989320"/>
            <a:ext cx="10881360" cy="228600"/>
          </a:xfrm>
          <a:prstGeom prst="rect">
            <a:avLst/>
          </a:prstGeom>
          <a:noFill/>
        </p:spPr>
        <p:txBody>
          <a:bodyPr wrap="square" lIns="0" rIns="0" tIns="0" bIns="0">
            <a:spAutoFit/>
          </a:bodyPr>
          <a:lstStyle/>
          <a:p>
            <a:r>
              <a:rPr sz="1200" b="0" i="0">
                <a:solidFill>
                  <a:srgbClr val="5B6472"/>
                </a:solidFill>
                <a:latin typeface="Arial"/>
              </a:rPr>
              <a:t>Zylia ZM-1 (3rd order, 19 capsules) + Zoom H3-VR (1st order, AmbiX). All 19 Zylia capsules healthy in all five takes.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One method, three different rigs</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The mics were physically rearranged between takes. Every take is still broadside — the blind axis just points somewhere different each time.</a:t>
            </a:r>
          </a:p>
        </p:txBody>
      </p:sp>
      <p:pic>
        <p:nvPicPr>
          <p:cNvPr id="4" name="Picture 3" descr="P1_tworigs.png"/>
          <p:cNvPicPr>
            <a:picLocks noChangeAspect="1"/>
          </p:cNvPicPr>
          <p:nvPr/>
        </p:nvPicPr>
        <p:blipFill>
          <a:blip r:embed="rId2"/>
          <a:stretch>
            <a:fillRect/>
          </a:stretch>
        </p:blipFill>
        <p:spPr>
          <a:xfrm>
            <a:off x="640080" y="1874519"/>
            <a:ext cx="10881360" cy="4060295"/>
          </a:xfrm>
          <a:prstGeom prst="rect">
            <a:avLst/>
          </a:prstGeom>
        </p:spPr>
      </p:pic>
      <p:sp>
        <p:nvSpPr>
          <p:cNvPr id="5" name="TextBox 4"/>
          <p:cNvSpPr txBox="1"/>
          <p:nvPr/>
        </p:nvSpPr>
        <p:spPr>
          <a:xfrm>
            <a:off x="640080" y="6053328"/>
            <a:ext cx="10881360" cy="228600"/>
          </a:xfrm>
          <a:prstGeom prst="rect">
            <a:avLst/>
          </a:prstGeom>
          <a:noFill/>
        </p:spPr>
        <p:txBody>
          <a:bodyPr wrap="square" lIns="0" rIns="0" tIns="0" bIns="0">
            <a:spAutoFit/>
          </a:bodyPr>
          <a:lstStyle/>
          <a:p>
            <a:r>
              <a:rPr sz="1200" b="0" i="0">
                <a:solidFill>
                  <a:srgbClr val="5B6472"/>
                </a:solidFill>
                <a:latin typeface="Arial"/>
              </a:rPr>
              <a:t>The blind axis is the line through both microphones. A source ON it gives both mics the identical bearing at every range, so the recording carries no distance at all. All five sources sit safely across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Scoreboard</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Azimuth and elevation hold up everywhere. Distance splits cleanly into the takes whose rig alignment was known and the two whose was not.</a:t>
            </a:r>
          </a:p>
        </p:txBody>
      </p:sp>
      <p:graphicFrame>
        <p:nvGraphicFramePr>
          <p:cNvPr id="4" name="Table 3"/>
          <p:cNvGraphicFramePr>
            <a:graphicFrameLocks noGrp="1"/>
          </p:cNvGraphicFramePr>
          <p:nvPr/>
        </p:nvGraphicFramePr>
        <p:xfrm>
          <a:off x="640080" y="2148840"/>
          <a:ext cx="10881360" cy="1645920"/>
        </p:xfrm>
        <a:graphic>
          <a:graphicData uri="http://schemas.openxmlformats.org/drawingml/2006/table">
            <a:tbl>
              <a:tblPr>
                <a:tableStyleId>{5C22544A-7EE6-4342-B048-85BDC9FD1C3A}</a:tableStyleId>
              </a:tblPr>
              <a:tblGrid>
                <a:gridCol w="2240280"/>
                <a:gridCol w="2331720"/>
                <a:gridCol w="1508760"/>
                <a:gridCol w="1325880"/>
                <a:gridCol w="1188720"/>
                <a:gridCol w="1188720"/>
                <a:gridCol w="1097280"/>
              </a:tblGrid>
              <a:tr h="274320">
                <a:tc>
                  <a:txBody>
                    <a:bodyPr wrap="square"/>
                    <a:lstStyle/>
                    <a:p>
                      <a:r>
                        <a:rPr sz="1300" b="1" i="0">
                          <a:solidFill>
                            <a:srgbClr val="5B6472"/>
                          </a:solidFill>
                          <a:latin typeface="Arial"/>
                        </a:rPr>
                        <a:t>take</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rig</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Zylia bearing</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elevation</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distance</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vs truth</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00" b="1" i="0">
                          <a:solidFill>
                            <a:srgbClr val="5B6472"/>
                          </a:solidFill>
                          <a:latin typeface="Arial"/>
                        </a:rPr>
                        <a:t>verdict</a:t>
                      </a:r>
                    </a:p>
                  </a:txBody>
                  <a:tcPr marL="91440" marR="73152" marT="36576" marB="36576" anchor="ctr">
                    <a:lnB w="12700" cap="flat" cmpd="sng" algn="ctr">
                      <a:solidFill>
                        <a:srgbClr val="B9C2D0"/>
                      </a:solidFill>
                      <a:prstDash val="solid"/>
                    </a:lnB>
                    <a:solidFill>
                      <a:srgbClr val="FFFFFF"/>
                    </a:solidFill>
                  </a:tcPr>
                </a:tc>
              </a:tr>
              <a:tr h="274320">
                <a:tc>
                  <a:txBody>
                    <a:bodyPr wrap="square"/>
                    <a:lstStyle/>
                    <a:p>
                      <a:r>
                        <a:rPr sz="1300" b="0" i="0">
                          <a:solidFill>
                            <a:srgbClr val="1A2233"/>
                          </a:solidFill>
                          <a:latin typeface="Arial"/>
                        </a:rPr>
                        <a:t>1   in front of Zylia</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side by side</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0.0°</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0° ok</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1.52 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–4%</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trusted</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00" b="0" i="0">
                          <a:solidFill>
                            <a:srgbClr val="1A2233"/>
                          </a:solidFill>
                          <a:latin typeface="Arial"/>
                        </a:rPr>
                        <a:t>2   in front of Zoom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side by side</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–1.7°</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0° ok</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1.62 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+3%</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trusted</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00" b="0" i="0">
                          <a:solidFill>
                            <a:srgbClr val="1A2233"/>
                          </a:solidFill>
                          <a:latin typeface="Arial"/>
                        </a:rPr>
                        <a:t>3   centre, elevated</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side by side</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–1.4°</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15.6°</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1.66 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+6%</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F9D6B"/>
                          </a:solidFill>
                          <a:latin typeface="Arial"/>
                        </a:rPr>
                        <a:t>trusted</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00" b="0" i="0">
                          <a:solidFill>
                            <a:srgbClr val="1A2233"/>
                          </a:solidFill>
                          <a:latin typeface="Arial"/>
                        </a:rPr>
                        <a:t>4   left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front-back, Zylia front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–3.4°</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0° ok</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3.14 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+109%</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rejected</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00" b="0" i="0">
                          <a:solidFill>
                            <a:srgbClr val="1A2233"/>
                          </a:solidFill>
                          <a:latin typeface="Arial"/>
                        </a:rPr>
                        <a:t>5   right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front-back, Zoom front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–4.4°</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1A2233"/>
                          </a:solidFill>
                          <a:latin typeface="Arial"/>
                        </a:rPr>
                        <a:t>0° ok</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2.40 m</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+60%</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00" b="0" i="0">
                          <a:solidFill>
                            <a:srgbClr val="C0392B"/>
                          </a:solidFill>
                          <a:latin typeface="Arial"/>
                        </a:rPr>
                        <a:t>wrong</a:t>
                      </a:r>
                    </a:p>
                  </a:txBody>
                  <a:tcPr marL="91440" marR="73152" marT="36576" marB="36576" anchor="ctr">
                    <a:lnB w="7620" cap="flat" cmpd="sng" algn="ctr">
                      <a:solidFill>
                        <a:srgbClr val="E8ECF2"/>
                      </a:solidFill>
                      <a:prstDash val="solid"/>
                    </a:lnB>
                    <a:solidFill>
                      <a:srgbClr val="FFFFFF"/>
                    </a:solidFill>
                  </a:tcPr>
                </a:tc>
              </a:tr>
            </a:tbl>
          </a:graphicData>
        </a:graphic>
      </p:graphicFrame>
      <p:sp>
        <p:nvSpPr>
          <p:cNvPr id="5" name="TextBox 4"/>
          <p:cNvSpPr txBox="1"/>
          <p:nvPr/>
        </p:nvSpPr>
        <p:spPr>
          <a:xfrm>
            <a:off x="640080" y="4206240"/>
            <a:ext cx="10972800" cy="3840480"/>
          </a:xfrm>
          <a:prstGeom prst="rect">
            <a:avLst/>
          </a:prstGeom>
          <a:noFill/>
        </p:spPr>
        <p:txBody>
          <a:bodyPr wrap="square" lIns="0" rIns="0" tIns="0" bIns="0">
            <a:spAutoFit/>
          </a:bodyPr>
          <a:lstStyle/>
          <a:p>
            <a:pPr>
              <a:lnSpc>
                <a:spcPct val="115000"/>
              </a:lnSpc>
              <a:spcAft>
                <a:spcPts val="900"/>
              </a:spcAft>
            </a:pPr>
            <a:r>
              <a:rPr sz="1500" b="1" i="0">
                <a:solidFill>
                  <a:srgbClr val="1A2233"/>
                </a:solidFill>
                <a:latin typeface="Arial"/>
              </a:rPr>
              <a:t>Every bearing is inside 4.4°.</a:t>
            </a:r>
            <a:r>
              <a:rPr sz="1500" b="0" i="0">
                <a:solidFill>
                  <a:srgbClr val="1A2233"/>
                </a:solidFill>
                <a:latin typeface="Arial"/>
              </a:rPr>
              <a:t>  Direction never failed, in any take, on either rig.</a:t>
            </a:r>
          </a:p>
          <a:p>
            <a:pPr>
              <a:lnSpc>
                <a:spcPct val="115000"/>
              </a:lnSpc>
              <a:spcAft>
                <a:spcPts val="900"/>
              </a:spcAft>
            </a:pPr>
            <a:r>
              <a:rPr sz="1500" b="1" i="0">
                <a:solidFill>
                  <a:srgbClr val="1A2233"/>
                </a:solidFill>
                <a:latin typeface="Arial"/>
              </a:rPr>
              <a:t>Distance is 3 to 6% wrong where the rig alignment was known,</a:t>
            </a:r>
            <a:r>
              <a:rPr sz="1500" b="0" i="0">
                <a:solidFill>
                  <a:srgbClr val="1A2233"/>
                </a:solidFill>
                <a:latin typeface="Arial"/>
              </a:rPr>
              <a:t>  and 60 to 109% wrong where it was not. That is the entire split.</a:t>
            </a:r>
          </a:p>
        </p:txBody>
      </p:sp>
      <p:sp>
        <p:nvSpPr>
          <p:cNvPr id="6" name="TextBox 5"/>
          <p:cNvSpPr txBox="1"/>
          <p:nvPr/>
        </p:nvSpPr>
        <p:spPr>
          <a:xfrm>
            <a:off x="640080" y="5989320"/>
            <a:ext cx="10881360" cy="228600"/>
          </a:xfrm>
          <a:prstGeom prst="rect">
            <a:avLst/>
          </a:prstGeom>
          <a:noFill/>
        </p:spPr>
        <p:txBody>
          <a:bodyPr wrap="square" lIns="0" rIns="0" tIns="0" bIns="0">
            <a:spAutoFit/>
          </a:bodyPr>
          <a:lstStyle/>
          <a:p>
            <a:r>
              <a:rPr sz="1200" b="0" i="0">
                <a:solidFill>
                  <a:srgbClr val="5B6472"/>
                </a:solidFill>
                <a:latin typeface="Arial"/>
              </a:rPr>
              <a:t>“rejected” means the built-in guards refused to report the number. Take 5 is the dangerous one: wrong, and it passed.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Azimuth: the robust one</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Each microphone's own bearing, measured against where the source really was. The Zylia never exceeds 4.4° on any take.</a:t>
            </a:r>
          </a:p>
        </p:txBody>
      </p:sp>
      <p:pic>
        <p:nvPicPr>
          <p:cNvPr id="4" name="Picture 3" descr="P2_azerror.png"/>
          <p:cNvPicPr>
            <a:picLocks noChangeAspect="1"/>
          </p:cNvPicPr>
          <p:nvPr/>
        </p:nvPicPr>
        <p:blipFill>
          <a:blip r:embed="rId2"/>
          <a:stretch>
            <a:fillRect/>
          </a:stretch>
        </p:blipFill>
        <p:spPr>
          <a:xfrm>
            <a:off x="640080" y="1965960"/>
            <a:ext cx="6400800" cy="3279454"/>
          </a:xfrm>
          <a:prstGeom prst="rect">
            <a:avLst/>
          </a:prstGeom>
        </p:spPr>
      </p:pic>
      <p:sp>
        <p:nvSpPr>
          <p:cNvPr id="5" name="TextBox 4"/>
          <p:cNvSpPr txBox="1"/>
          <p:nvPr/>
        </p:nvSpPr>
        <p:spPr>
          <a:xfrm>
            <a:off x="7406640" y="2148840"/>
            <a:ext cx="416052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The Zylia is the reliable mic.</a:t>
            </a:r>
            <a:r>
              <a:rPr sz="1350" b="0" i="0">
                <a:solidFill>
                  <a:srgbClr val="1A2233"/>
                </a:solidFill>
                <a:latin typeface="Arial"/>
              </a:rPr>
              <a:t>  3rd order, 19 capsules, no clipping.</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The Zoom is consistently biased</a:t>
            </a:r>
            <a:r>
              <a:rPr sz="1350" b="0" i="0">
                <a:solidFill>
                  <a:srgbClr val="1A2233"/>
                </a:solidFill>
                <a:latin typeface="Arial"/>
              </a:rPr>
              <a:t>  and by different amounts on different rigs: +4.7, +3.0, +5.4 on the side-by-side takes, then +15.4 and +9.4 on the two front-back ones.</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That difference is the whole story.</a:t>
            </a:r>
            <a:r>
              <a:rPr sz="1350" b="0" i="0">
                <a:solidFill>
                  <a:srgbClr val="1A2233"/>
                </a:solidFill>
                <a:latin typeface="Arial"/>
              </a:rPr>
              <a:t>  It is not noise — it is the physical rotation between the two mics, and it changed when the rig was taken apart and rebuilt.</a:t>
            </a:r>
          </a:p>
        </p:txBody>
      </p:sp>
      <p:sp>
        <p:nvSpPr>
          <p:cNvPr id="6" name="TextBox 5"/>
          <p:cNvSpPr txBox="1"/>
          <p:nvPr/>
        </p:nvSpPr>
        <p:spPr>
          <a:xfrm>
            <a:off x="640080" y="5806440"/>
            <a:ext cx="10881360" cy="228600"/>
          </a:xfrm>
          <a:prstGeom prst="rect">
            <a:avLst/>
          </a:prstGeom>
          <a:noFill/>
        </p:spPr>
        <p:txBody>
          <a:bodyPr wrap="square" lIns="0" rIns="0" tIns="0" bIns="0">
            <a:spAutoFit/>
          </a:bodyPr>
          <a:lstStyle/>
          <a:p>
            <a:r>
              <a:rPr sz="1200" b="0" i="0">
                <a:solidFill>
                  <a:srgbClr val="5B6472"/>
                </a:solidFill>
                <a:latin typeface="Arial"/>
              </a:rPr>
              <a:t>Bearing error is measured per microphone, in that microphone's own frame — not the fused source azimuth.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A ground-truth-free azimuth check, for free</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Takes 1 and 2 exist for a reason beyond limit-testing: they calibrate azimuth without a protractor.</a:t>
            </a:r>
          </a:p>
        </p:txBody>
      </p:sp>
      <p:sp>
        <p:nvSpPr>
          <p:cNvPr id="4" name="TextBox 3"/>
          <p:cNvSpPr txBox="1"/>
          <p:nvPr/>
        </p:nvSpPr>
        <p:spPr>
          <a:xfrm>
            <a:off x="640080" y="2011680"/>
            <a:ext cx="10972800" cy="3840480"/>
          </a:xfrm>
          <a:prstGeom prst="rect">
            <a:avLst/>
          </a:prstGeom>
          <a:noFill/>
        </p:spPr>
        <p:txBody>
          <a:bodyPr wrap="square" lIns="0" rIns="0" tIns="0" bIns="0">
            <a:spAutoFit/>
          </a:bodyPr>
          <a:lstStyle/>
          <a:p>
            <a:pPr>
              <a:lnSpc>
                <a:spcPct val="115000"/>
              </a:lnSpc>
              <a:spcAft>
                <a:spcPts val="900"/>
              </a:spcAft>
            </a:pPr>
            <a:r>
              <a:rPr sz="1550" b="1" i="0">
                <a:solidFill>
                  <a:srgbClr val="1A2233"/>
                </a:solidFill>
                <a:latin typeface="Arial"/>
              </a:rPr>
              <a:t>Stand directly in front of one microphone</a:t>
            </a:r>
            <a:r>
              <a:rPr sz="1550" b="0" i="0">
                <a:solidFill>
                  <a:srgbClr val="1A2233"/>
                </a:solidFill>
                <a:latin typeface="Arial"/>
              </a:rPr>
              <a:t>  and that microphone's true azimuth is exactly 0°, whatever the distance. No tape measure, no angle to estimate.</a:t>
            </a:r>
          </a:p>
          <a:p>
            <a:pPr>
              <a:lnSpc>
                <a:spcPct val="115000"/>
              </a:lnSpc>
              <a:spcAft>
                <a:spcPts val="900"/>
              </a:spcAft>
            </a:pPr>
            <a:r>
              <a:rPr sz="1550" b="1" i="0">
                <a:solidFill>
                  <a:srgbClr val="1A2233"/>
                </a:solidFill>
                <a:latin typeface="Arial"/>
              </a:rPr>
              <a:t>The Zylia read 0.00°.</a:t>
            </a:r>
            <a:r>
              <a:rPr sz="1550" b="0" i="0">
                <a:solidFill>
                  <a:srgbClr val="1A2233"/>
                </a:solidFill>
                <a:latin typeface="Arial"/>
              </a:rPr>
              <a:t>  Dead on.</a:t>
            </a:r>
          </a:p>
          <a:p>
            <a:pPr>
              <a:lnSpc>
                <a:spcPct val="115000"/>
              </a:lnSpc>
              <a:spcAft>
                <a:spcPts val="900"/>
              </a:spcAft>
            </a:pPr>
            <a:r>
              <a:rPr sz="1550" b="0" i="0">
                <a:solidFill>
                  <a:srgbClr val="1A2233"/>
                </a:solidFill>
                <a:latin typeface="Arial"/>
              </a:rPr>
              <a:t/>
            </a:r>
          </a:p>
          <a:p>
            <a:pPr>
              <a:lnSpc>
                <a:spcPct val="115000"/>
              </a:lnSpc>
              <a:spcAft>
                <a:spcPts val="900"/>
              </a:spcAft>
            </a:pPr>
            <a:r>
              <a:rPr sz="1550" b="1" i="0">
                <a:solidFill>
                  <a:srgbClr val="1A2233"/>
                </a:solidFill>
                <a:latin typeface="Arial"/>
              </a:rPr>
              <a:t>But it is a poor calibration for the TWIST.</a:t>
            </a:r>
            <a:r>
              <a:rPr sz="1550" b="0" i="0">
                <a:solidFill>
                  <a:srgbClr val="1A2233"/>
                </a:solidFill>
                <a:latin typeface="Arial"/>
              </a:rPr>
              <a:t>  At 1.5 m, one centimetre of sideways standing error is 0.38°, so this pins the rotation to no better than about ±4°.</a:t>
            </a:r>
          </a:p>
          <a:p>
            <a:pPr>
              <a:lnSpc>
                <a:spcPct val="115000"/>
              </a:lnSpc>
              <a:spcAft>
                <a:spcPts val="900"/>
              </a:spcAft>
            </a:pPr>
            <a:r>
              <a:rPr sz="1550" b="0" i="0">
                <a:solidFill>
                  <a:srgbClr val="1A2233"/>
                </a:solidFill>
                <a:latin typeface="Arial"/>
              </a:rPr>
              <a:t/>
            </a:r>
          </a:p>
          <a:p>
            <a:pPr>
              <a:lnSpc>
                <a:spcPct val="115000"/>
              </a:lnSpc>
              <a:spcAft>
                <a:spcPts val="900"/>
              </a:spcAft>
            </a:pPr>
            <a:r>
              <a:rPr sz="1550" b="1" i="0">
                <a:solidFill>
                  <a:srgbClr val="1A2233"/>
                </a:solidFill>
                <a:latin typeface="Arial"/>
              </a:rPr>
              <a:t>Also worth noting:</a:t>
            </a:r>
            <a:r>
              <a:rPr sz="1550" b="0" i="0">
                <a:solidFill>
                  <a:srgbClr val="1A2233"/>
                </a:solidFill>
                <a:latin typeface="Arial"/>
              </a:rPr>
              <a:t>  standing 1.50 m in front of a mic that sits 0.50 m off centre puts you 18.43° off the array axis, not “a couple of degrees”. The reported azimuths were –19.1° and +15.8°, which is correct, not a failure to notice the offset.</a:t>
            </a:r>
          </a:p>
        </p:txBody>
      </p:sp>
      <p:sp>
        <p:nvSpPr>
          <p:cNvPr id="5" name="TextBox 4"/>
          <p:cNvSpPr txBox="1"/>
          <p:nvPr/>
        </p:nvSpPr>
        <p:spPr>
          <a:xfrm>
            <a:off x="640080" y="5989320"/>
            <a:ext cx="10881360" cy="228600"/>
          </a:xfrm>
          <a:prstGeom prst="rect">
            <a:avLst/>
          </a:prstGeom>
          <a:noFill/>
        </p:spPr>
        <p:txBody>
          <a:bodyPr wrap="square" lIns="0" rIns="0" tIns="0" bIns="0">
            <a:spAutoFit/>
          </a:bodyPr>
          <a:lstStyle/>
          <a:p>
            <a:r>
              <a:rPr sz="1200" b="0" i="0">
                <a:solidFill>
                  <a:srgbClr val="5B6472"/>
                </a:solidFill>
                <a:latin typeface="Arial"/>
              </a:rPr>
              <a:t>atan(0.50 / 1.50) = 18.43°. Ratios that look small in metres are large in degrees.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What a distance is actually made of</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Each mic reports a direction. Draw a line out of each. Where they cross is the source. That is the entire method.</a:t>
            </a:r>
          </a:p>
        </p:txBody>
      </p:sp>
      <p:pic>
        <p:nvPicPr>
          <p:cNvPr id="4" name="Picture 3" descr="P5_parallax.png"/>
          <p:cNvPicPr>
            <a:picLocks noChangeAspect="1"/>
          </p:cNvPicPr>
          <p:nvPr/>
        </p:nvPicPr>
        <p:blipFill>
          <a:blip r:embed="rId2"/>
          <a:stretch>
            <a:fillRect/>
          </a:stretch>
        </p:blipFill>
        <p:spPr>
          <a:xfrm>
            <a:off x="640080" y="2011680"/>
            <a:ext cx="6126480" cy="3474567"/>
          </a:xfrm>
          <a:prstGeom prst="rect">
            <a:avLst/>
          </a:prstGeom>
        </p:spPr>
      </p:pic>
      <p:sp>
        <p:nvSpPr>
          <p:cNvPr id="5" name="TextBox 4"/>
          <p:cNvSpPr txBox="1"/>
          <p:nvPr/>
        </p:nvSpPr>
        <p:spPr>
          <a:xfrm>
            <a:off x="7086600" y="2194560"/>
            <a:ext cx="448056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The two lines only cross usefully</a:t>
            </a:r>
            <a:r>
              <a:rPr sz="1350" b="0" i="0">
                <a:solidFill>
                  <a:srgbClr val="1A2233"/>
                </a:solidFill>
                <a:latin typeface="Arial"/>
              </a:rPr>
              <a:t>  if they arrive at meaningfully different angles.</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At 1.50 m on a 1 m baseline</a:t>
            </a:r>
            <a:r>
              <a:rPr sz="1350" b="0" i="0">
                <a:solidFill>
                  <a:srgbClr val="1A2233"/>
                </a:solidFill>
                <a:latin typeface="Arial"/>
              </a:rPr>
              <a:t>  the two mics disagree by 36.9°. That disagreement IS the distance information — there is nothing else.</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Further away, there is less of it.</a:t>
            </a:r>
            <a:r>
              <a:rPr sz="1350" b="0" i="0">
                <a:solidFill>
                  <a:srgbClr val="1A2233"/>
                </a:solidFill>
                <a:latin typeface="Arial"/>
              </a:rPr>
              <a:t>  At 3 m it is 18.9°; at 5 m only 11.4°. Hence the rule: make the baseline roughly the distance you want to measure.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Distance: 3 to 6% where the rig alignment was known</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Green bars are takes where the twist between the two microphones had been measured. Red bars are takes where it had not.</a:t>
            </a:r>
          </a:p>
        </p:txBody>
      </p:sp>
      <p:pic>
        <p:nvPicPr>
          <p:cNvPr id="4" name="Picture 3" descr="P4_distance.png"/>
          <p:cNvPicPr>
            <a:picLocks noChangeAspect="1"/>
          </p:cNvPicPr>
          <p:nvPr/>
        </p:nvPicPr>
        <p:blipFill>
          <a:blip r:embed="rId2"/>
          <a:stretch>
            <a:fillRect/>
          </a:stretch>
        </p:blipFill>
        <p:spPr>
          <a:xfrm>
            <a:off x="640080" y="2011680"/>
            <a:ext cx="6400800" cy="3263850"/>
          </a:xfrm>
          <a:prstGeom prst="rect">
            <a:avLst/>
          </a:prstGeom>
        </p:spPr>
      </p:pic>
      <p:sp>
        <p:nvSpPr>
          <p:cNvPr id="5" name="TextBox 4"/>
          <p:cNvSpPr txBox="1"/>
          <p:nvPr/>
        </p:nvSpPr>
        <p:spPr>
          <a:xfrm>
            <a:off x="7406640" y="2240280"/>
            <a:ext cx="416052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1.52, 1.62, 1.66 m</a:t>
            </a:r>
            <a:r>
              <a:rPr sz="1350" b="0" i="0">
                <a:solidFill>
                  <a:srgbClr val="1A2233"/>
                </a:solidFill>
                <a:latin typeface="Arial"/>
              </a:rPr>
              <a:t>  against 1.58, 1.58, 1.57 m truth.</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The two red bars are not a different</a:t>
            </a:r>
            <a:r>
              <a:rPr sz="1350" b="0" i="0">
                <a:solidFill>
                  <a:srgbClr val="1A2233"/>
                </a:solidFill>
                <a:latin typeface="Arial"/>
              </a:rPr>
              <a:t>  kind of failure. Same method, same geometry quality, one missing number.</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Compare the old single-microphone</a:t>
            </a:r>
            <a:r>
              <a:rPr sz="1350" b="0" i="0">
                <a:solidFill>
                  <a:srgbClr val="1A2233"/>
                </a:solidFill>
                <a:latin typeface="Arial"/>
              </a:rPr>
              <a:t>  attempts, which railed to a meaningless 3.00 m from every curvature-based estimate regardless of where the source was.</a:t>
            </a:r>
          </a:p>
        </p:txBody>
      </p:sp>
      <p:sp>
        <p:nvSpPr>
          <p:cNvPr id="6" name="TextBox 5"/>
          <p:cNvSpPr txBox="1"/>
          <p:nvPr/>
        </p:nvSpPr>
        <p:spPr>
          <a:xfrm>
            <a:off x="640080" y="5806440"/>
            <a:ext cx="10881360" cy="228600"/>
          </a:xfrm>
          <a:prstGeom prst="rect">
            <a:avLst/>
          </a:prstGeom>
          <a:noFill/>
        </p:spPr>
        <p:txBody>
          <a:bodyPr wrap="square" lIns="0" rIns="0" tIns="0" bIns="0">
            <a:spAutoFit/>
          </a:bodyPr>
          <a:lstStyle/>
          <a:p>
            <a:r>
              <a:rPr sz="1200" b="0" i="0">
                <a:solidFill>
                  <a:srgbClr val="5B6472"/>
                </a:solidFill>
                <a:latin typeface="Arial"/>
              </a:rPr>
              <a:t>Distance is measured from the midpoint between the two mics, so a source 1.50 m in front of ONE mic is 1.5811 m from the midpoint.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2600" b="1" i="0">
                <a:solidFill>
                  <a:srgbClr val="1A2233"/>
                </a:solidFill>
                <a:latin typeface="Arial"/>
              </a:rPr>
              <a:t>The twist: one unmeasured angle, and the distance doubles</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If the two microphones are rotated relative to each other and you do not know by how much, you draw one of the two lines at the wrong angle.</a:t>
            </a:r>
          </a:p>
        </p:txBody>
      </p:sp>
      <p:pic>
        <p:nvPicPr>
          <p:cNvPr id="4" name="Picture 3" descr="P3_twistcost.png"/>
          <p:cNvPicPr>
            <a:picLocks noChangeAspect="1"/>
          </p:cNvPicPr>
          <p:nvPr/>
        </p:nvPicPr>
        <p:blipFill>
          <a:blip r:embed="rId2"/>
          <a:stretch>
            <a:fillRect/>
          </a:stretch>
        </p:blipFill>
        <p:spPr>
          <a:xfrm>
            <a:off x="640080" y="1965960"/>
            <a:ext cx="6035040" cy="3503243"/>
          </a:xfrm>
          <a:prstGeom prst="rect">
            <a:avLst/>
          </a:prstGeom>
        </p:spPr>
      </p:pic>
      <p:sp>
        <p:nvSpPr>
          <p:cNvPr id="5" name="TextBox 4"/>
          <p:cNvSpPr txBox="1"/>
          <p:nvPr/>
        </p:nvSpPr>
        <p:spPr>
          <a:xfrm>
            <a:off x="6995160" y="2103120"/>
            <a:ext cx="4572000" cy="3840480"/>
          </a:xfrm>
          <a:prstGeom prst="rect">
            <a:avLst/>
          </a:prstGeom>
          <a:noFill/>
        </p:spPr>
        <p:txBody>
          <a:bodyPr wrap="square" lIns="0" rIns="0" tIns="0" bIns="0">
            <a:spAutoFit/>
          </a:bodyPr>
          <a:lstStyle/>
          <a:p>
            <a:pPr>
              <a:lnSpc>
                <a:spcPct val="115000"/>
              </a:lnSpc>
              <a:spcAft>
                <a:spcPts val="300"/>
              </a:spcAft>
            </a:pPr>
            <a:r>
              <a:rPr sz="1350" b="1" i="0">
                <a:solidFill>
                  <a:srgbClr val="1A2233"/>
                </a:solidFill>
                <a:latin typeface="Arial"/>
              </a:rPr>
              <a:t>A source really at 1.50 m,</a:t>
            </a:r>
            <a:r>
              <a:rPr sz="1350" b="0" i="0">
                <a:solidFill>
                  <a:srgbClr val="1A2233"/>
                </a:solidFill>
                <a:latin typeface="Arial"/>
              </a:rPr>
              <a:t>  reported through a twist nobody measured:</a:t>
            </a:r>
          </a:p>
          <a:p>
            <a:pPr>
              <a:lnSpc>
                <a:spcPct val="115000"/>
              </a:lnSpc>
              <a:spcAft>
                <a:spcPts val="300"/>
              </a:spcAft>
            </a:pPr>
            <a:r>
              <a:rPr sz="1350" b="0" i="0">
                <a:solidFill>
                  <a:srgbClr val="1A2233"/>
                </a:solidFill>
                <a:latin typeface="Arial"/>
              </a:rPr>
              <a:t/>
            </a:r>
          </a:p>
          <a:p>
            <a:pPr>
              <a:lnSpc>
                <a:spcPct val="115000"/>
              </a:lnSpc>
              <a:spcAft>
                <a:spcPts val="300"/>
              </a:spcAft>
            </a:pPr>
            <a:r>
              <a:rPr sz="1350" b="1" i="0">
                <a:solidFill>
                  <a:srgbClr val="1A2233"/>
                </a:solidFill>
                <a:latin typeface="Arial"/>
              </a:rPr>
              <a:t>   5° twist</a:t>
            </a:r>
            <a:r>
              <a:rPr sz="1350" b="0" i="0">
                <a:solidFill>
                  <a:srgbClr val="1A2233"/>
                </a:solidFill>
                <a:latin typeface="Arial"/>
              </a:rPr>
              <a:t>  →  1.75 m</a:t>
            </a:r>
          </a:p>
          <a:p>
            <a:pPr>
              <a:lnSpc>
                <a:spcPct val="115000"/>
              </a:lnSpc>
              <a:spcAft>
                <a:spcPts val="300"/>
              </a:spcAft>
            </a:pPr>
            <a:r>
              <a:rPr sz="1350" b="1" i="0">
                <a:solidFill>
                  <a:srgbClr val="1A2233"/>
                </a:solidFill>
                <a:latin typeface="Arial"/>
              </a:rPr>
              <a:t>   10° twist</a:t>
            </a:r>
            <a:r>
              <a:rPr sz="1350" b="0" i="0">
                <a:solidFill>
                  <a:srgbClr val="1A2233"/>
                </a:solidFill>
                <a:latin typeface="Arial"/>
              </a:rPr>
              <a:t>  →  2.09 m</a:t>
            </a:r>
          </a:p>
          <a:p>
            <a:pPr>
              <a:lnSpc>
                <a:spcPct val="115000"/>
              </a:lnSpc>
              <a:spcAft>
                <a:spcPts val="300"/>
              </a:spcAft>
            </a:pPr>
            <a:r>
              <a:rPr sz="1350" b="1" i="0">
                <a:solidFill>
                  <a:srgbClr val="1A2233"/>
                </a:solidFill>
                <a:latin typeface="Arial"/>
              </a:rPr>
              <a:t>   15° twist</a:t>
            </a:r>
            <a:r>
              <a:rPr sz="1350" b="0" i="0">
                <a:solidFill>
                  <a:srgbClr val="1A2233"/>
                </a:solidFill>
                <a:latin typeface="Arial"/>
              </a:rPr>
              <a:t>  →  2.59 m</a:t>
            </a:r>
          </a:p>
          <a:p>
            <a:pPr>
              <a:lnSpc>
                <a:spcPct val="115000"/>
              </a:lnSpc>
              <a:spcAft>
                <a:spcPts val="300"/>
              </a:spcAft>
            </a:pPr>
            <a:r>
              <a:rPr sz="1350" b="1" i="0">
                <a:solidFill>
                  <a:srgbClr val="1A2233"/>
                </a:solidFill>
                <a:latin typeface="Arial"/>
              </a:rPr>
              <a:t>   20° twist</a:t>
            </a:r>
            <a:r>
              <a:rPr sz="1350" b="0" i="0">
                <a:solidFill>
                  <a:srgbClr val="1A2233"/>
                </a:solidFill>
                <a:latin typeface="Arial"/>
              </a:rPr>
              <a:t>  →  3.37 m</a:t>
            </a:r>
          </a:p>
          <a:p>
            <a:pPr>
              <a:lnSpc>
                <a:spcPct val="115000"/>
              </a:lnSpc>
              <a:spcAft>
                <a:spcPts val="300"/>
              </a:spcAft>
            </a:pPr>
            <a:r>
              <a:rPr sz="1350" b="0" i="0">
                <a:solidFill>
                  <a:srgbClr val="1A2233"/>
                </a:solidFill>
                <a:latin typeface="Arial"/>
              </a:rPr>
              <a:t/>
            </a:r>
          </a:p>
          <a:p>
            <a:pPr>
              <a:lnSpc>
                <a:spcPct val="115000"/>
              </a:lnSpc>
              <a:spcAft>
                <a:spcPts val="300"/>
              </a:spcAft>
            </a:pPr>
            <a:r>
              <a:rPr sz="1350" b="1" i="0">
                <a:solidFill>
                  <a:srgbClr val="1A2233"/>
                </a:solidFill>
                <a:latin typeface="Arial"/>
              </a:rPr>
              <a:t>Why it bites so hard:</a:t>
            </a:r>
            <a:r>
              <a:rPr sz="1350" b="0" i="0">
                <a:solidFill>
                  <a:srgbClr val="1A2233"/>
                </a:solidFill>
                <a:latin typeface="Arial"/>
              </a:rPr>
              <a:t>  the whole measurement is 36.9° wide. Spend 15° of that on an unknown rotation and you have thrown away 40% of your signal.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Solve each take for the twist it would need</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Every take can be asked: what relative rotation would make YOUR two bearings agree with where the source actually was?</a:t>
            </a:r>
          </a:p>
        </p:txBody>
      </p:sp>
      <p:pic>
        <p:nvPicPr>
          <p:cNvPr id="4" name="Picture 3" descr="P6_twistdemand.png"/>
          <p:cNvPicPr>
            <a:picLocks noChangeAspect="1"/>
          </p:cNvPicPr>
          <p:nvPr/>
        </p:nvPicPr>
        <p:blipFill>
          <a:blip r:embed="rId2"/>
          <a:stretch>
            <a:fillRect/>
          </a:stretch>
        </p:blipFill>
        <p:spPr>
          <a:xfrm>
            <a:off x="640080" y="2011680"/>
            <a:ext cx="6400800" cy="3228011"/>
          </a:xfrm>
          <a:prstGeom prst="rect">
            <a:avLst/>
          </a:prstGeom>
        </p:spPr>
      </p:pic>
      <p:sp>
        <p:nvSpPr>
          <p:cNvPr id="5" name="TextBox 4"/>
          <p:cNvSpPr txBox="1"/>
          <p:nvPr/>
        </p:nvSpPr>
        <p:spPr>
          <a:xfrm>
            <a:off x="7406640" y="2148840"/>
            <a:ext cx="416052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The three front takes answer</a:t>
            </a:r>
            <a:r>
              <a:rPr sz="1350" b="0" i="0">
                <a:solidFill>
                  <a:srgbClr val="1A2233"/>
                </a:solidFill>
                <a:latin typeface="Arial"/>
              </a:rPr>
              <a:t>  +4.7, +4.7 and +6.9°. One rig, never touched, one twist — about +5°, which is the value already in the code.</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The two side takes answer</a:t>
            </a:r>
            <a:r>
              <a:rPr sz="1350" b="0" i="0">
                <a:solidFill>
                  <a:srgbClr val="1A2233"/>
                </a:solidFill>
                <a:latin typeface="Arial"/>
              </a:rPr>
              <a:t>  +18.9° and +13.9°. Not each other's, and not the front takes'.</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Three takes agreeing is a measurement.</a:t>
            </a:r>
            <a:r>
              <a:rPr sz="1350" b="0" i="0">
                <a:solidFill>
                  <a:srgbClr val="1A2233"/>
                </a:solidFill>
                <a:latin typeface="Arial"/>
              </a:rPr>
              <a:t>  Two takes disagreeing is the signature of a rig that was rebuilt between them — which is exactly what happened.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What this report got wrong the first time</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C0392B"/>
                </a:solidFill>
                <a:latin typeface="Arial"/>
              </a:rPr>
              <a:t>The first version of this deck claimed takes 4 and 5 were physically impossible. They were not. Worth recording how the error was made.</a:t>
            </a:r>
          </a:p>
        </p:txBody>
      </p:sp>
      <p:sp>
        <p:nvSpPr>
          <p:cNvPr id="4" name="TextBox 3"/>
          <p:cNvSpPr txBox="1"/>
          <p:nvPr/>
        </p:nvSpPr>
        <p:spPr>
          <a:xfrm>
            <a:off x="640080" y="2103120"/>
            <a:ext cx="10972800" cy="3840480"/>
          </a:xfrm>
          <a:prstGeom prst="rect">
            <a:avLst/>
          </a:prstGeom>
          <a:noFill/>
        </p:spPr>
        <p:txBody>
          <a:bodyPr wrap="square" lIns="0" rIns="0" tIns="0" bIns="0">
            <a:spAutoFit/>
          </a:bodyPr>
          <a:lstStyle/>
          <a:p>
            <a:pPr>
              <a:lnSpc>
                <a:spcPct val="115000"/>
              </a:lnSpc>
              <a:spcAft>
                <a:spcPts val="900"/>
              </a:spcAft>
            </a:pPr>
            <a:r>
              <a:rPr sz="1450" b="1" i="0">
                <a:solidFill>
                  <a:srgbClr val="1A2233"/>
                </a:solidFill>
                <a:latin typeface="Arial"/>
              </a:rPr>
              <a:t>The claim was:</a:t>
            </a:r>
            <a:r>
              <a:rPr sz="1450" b="0" i="0">
                <a:solidFill>
                  <a:srgbClr val="1A2233"/>
                </a:solidFill>
                <a:latin typeface="Arial"/>
              </a:rPr>
              <a:t>  the source stood on the blind axis, both mics saw the identical bearing, so no distance existed in the recording. For a SIDE-BY-SIDE rig that is true — and it is what we assumed the rig was.</a:t>
            </a:r>
          </a:p>
          <a:p>
            <a:pPr>
              <a:lnSpc>
                <a:spcPct val="115000"/>
              </a:lnSpc>
              <a:spcAft>
                <a:spcPts val="900"/>
              </a:spcAft>
            </a:pPr>
            <a:r>
              <a:rPr sz="1450" b="1" i="0">
                <a:solidFill>
                  <a:srgbClr val="1A2233"/>
                </a:solidFill>
                <a:latin typeface="Arial"/>
              </a:rPr>
              <a:t>The evidence against it</a:t>
            </a:r>
            <a:r>
              <a:rPr sz="1450" b="0" i="0">
                <a:solidFill>
                  <a:srgbClr val="1A2233"/>
                </a:solidFill>
                <a:latin typeface="Arial"/>
              </a:rPr>
              <a:t>  was already in the data. On a front-back rig the FRONT mic must read |az| &gt; 90° and the BACK mic |az| &lt; 90°. The Zylia read 105° in one take and –76° in the other: front mic in one, back mic in the other.</a:t>
            </a:r>
          </a:p>
          <a:p>
            <a:pPr>
              <a:lnSpc>
                <a:spcPct val="115000"/>
              </a:lnSpc>
              <a:spcAft>
                <a:spcPts val="900"/>
              </a:spcAft>
            </a:pPr>
            <a:r>
              <a:rPr sz="1450" b="1" i="0">
                <a:solidFill>
                  <a:srgbClr val="1A2233"/>
                </a:solidFill>
                <a:latin typeface="Arial"/>
              </a:rPr>
              <a:t>The wrong conclusion drawn from it:</a:t>
            </a:r>
            <a:r>
              <a:rPr sz="1450" b="0" i="0">
                <a:solidFill>
                  <a:srgbClr val="1A2233"/>
                </a:solidFill>
                <a:latin typeface="Arial"/>
              </a:rPr>
              <a:t>  “no rig explains both takes, so the bearings must be corrupt.”</a:t>
            </a:r>
          </a:p>
          <a:p>
            <a:pPr>
              <a:lnSpc>
                <a:spcPct val="115000"/>
              </a:lnSpc>
              <a:spcAft>
                <a:spcPts val="900"/>
              </a:spcAft>
            </a:pPr>
            <a:r>
              <a:rPr sz="1450" b="1" i="0">
                <a:solidFill>
                  <a:srgbClr val="1A2233"/>
                </a:solidFill>
                <a:latin typeface="Arial"/>
              </a:rPr>
              <a:t>The right one:</a:t>
            </a:r>
            <a:r>
              <a:rPr sz="1450" b="0" i="0">
                <a:solidFill>
                  <a:srgbClr val="1A2233"/>
                </a:solidFill>
                <a:latin typeface="Arial"/>
              </a:rPr>
              <a:t>  no SINGLE rig explains both. The mics were physically swapped between the two recordings.</a:t>
            </a:r>
          </a:p>
          <a:p>
            <a:pPr>
              <a:lnSpc>
                <a:spcPct val="115000"/>
              </a:lnSpc>
              <a:spcAft>
                <a:spcPts val="900"/>
              </a:spcAft>
            </a:pPr>
            <a:r>
              <a:rPr sz="1450" b="0" i="0">
                <a:solidFill>
                  <a:srgbClr val="1A2233"/>
                </a:solidFill>
                <a:latin typeface="Arial"/>
              </a:rPr>
              <a:t/>
            </a:r>
          </a:p>
          <a:p>
            <a:pPr>
              <a:lnSpc>
                <a:spcPct val="115000"/>
              </a:lnSpc>
              <a:spcAft>
                <a:spcPts val="900"/>
              </a:spcAft>
            </a:pPr>
            <a:r>
              <a:rPr sz="1450" b="1" i="0">
                <a:solidFill>
                  <a:srgbClr val="1A2233"/>
                </a:solidFill>
                <a:latin typeface="Arial"/>
              </a:rPr>
              <a:t>The lesson worth keeping:</a:t>
            </a:r>
            <a:r>
              <a:rPr sz="1450" b="0" i="0">
                <a:solidFill>
                  <a:srgbClr val="1A2233"/>
                </a:solidFill>
                <a:latin typeface="Arial"/>
              </a:rPr>
              <a:t>  when two measurements are each internally consistent but jointly impossible, suspect the apparatus changed before you suspect the data.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Which microphone was in front? The bearings say so.</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This needs no tape measure, no ground truth and no second take — only the two numbers the script already prints.</a:t>
            </a:r>
          </a:p>
        </p:txBody>
      </p:sp>
      <p:pic>
        <p:nvPicPr>
          <p:cNvPr id="4" name="Picture 3" descr="P13_frontback.png"/>
          <p:cNvPicPr>
            <a:picLocks noChangeAspect="1"/>
          </p:cNvPicPr>
          <p:nvPr/>
        </p:nvPicPr>
        <p:blipFill>
          <a:blip r:embed="rId2"/>
          <a:stretch>
            <a:fillRect/>
          </a:stretch>
        </p:blipFill>
        <p:spPr>
          <a:xfrm>
            <a:off x="640080" y="1965960"/>
            <a:ext cx="5029200" cy="3854842"/>
          </a:xfrm>
          <a:prstGeom prst="rect">
            <a:avLst/>
          </a:prstGeom>
        </p:spPr>
      </p:pic>
      <p:sp>
        <p:nvSpPr>
          <p:cNvPr id="5" name="TextBox 4"/>
          <p:cNvSpPr txBox="1"/>
          <p:nvPr/>
        </p:nvSpPr>
        <p:spPr>
          <a:xfrm>
            <a:off x="6035040" y="2103120"/>
            <a:ext cx="553212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On a front-back rig with the source</a:t>
            </a:r>
            <a:r>
              <a:rPr sz="1350" b="0" i="0">
                <a:solidFill>
                  <a:srgbClr val="1A2233"/>
                </a:solidFill>
                <a:latin typeface="Arial"/>
              </a:rPr>
              <a:t>  off to one side, the geometry forces it:</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The FRONT mic sees the source</a:t>
            </a:r>
            <a:r>
              <a:rPr sz="1350" b="0" i="0">
                <a:solidFill>
                  <a:srgbClr val="1A2233"/>
                </a:solidFill>
                <a:latin typeface="Arial"/>
              </a:rPr>
              <a:t>  behind its shoulder — |az| &gt; 90°</a:t>
            </a:r>
          </a:p>
          <a:p>
            <a:pPr>
              <a:lnSpc>
                <a:spcPct val="115000"/>
              </a:lnSpc>
              <a:spcAft>
                <a:spcPts val="400"/>
              </a:spcAft>
            </a:pPr>
            <a:r>
              <a:rPr sz="1350" b="1" i="0">
                <a:solidFill>
                  <a:srgbClr val="1A2233"/>
                </a:solidFill>
                <a:latin typeface="Arial"/>
              </a:rPr>
              <a:t>The BACK mic sees it</a:t>
            </a:r>
            <a:r>
              <a:rPr sz="1350" b="0" i="0">
                <a:solidFill>
                  <a:srgbClr val="1A2233"/>
                </a:solidFill>
                <a:latin typeface="Arial"/>
              </a:rPr>
              <a:t>  ahead of its shoulder — |az| &lt; 90°</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Take 4:</a:t>
            </a:r>
            <a:r>
              <a:rPr sz="1350" b="0" i="0">
                <a:solidFill>
                  <a:srgbClr val="1A2233"/>
                </a:solidFill>
                <a:latin typeface="Arial"/>
              </a:rPr>
              <a:t>  Zylia 105°, Zoom 87°  →  Zylia in front</a:t>
            </a:r>
          </a:p>
          <a:p>
            <a:pPr>
              <a:lnSpc>
                <a:spcPct val="115000"/>
              </a:lnSpc>
              <a:spcAft>
                <a:spcPts val="400"/>
              </a:spcAft>
            </a:pPr>
            <a:r>
              <a:rPr sz="1350" b="1" i="0">
                <a:solidFill>
                  <a:srgbClr val="1A2233"/>
                </a:solidFill>
                <a:latin typeface="Arial"/>
              </a:rPr>
              <a:t>Take 5:</a:t>
            </a:r>
            <a:r>
              <a:rPr sz="1350" b="0" i="0">
                <a:solidFill>
                  <a:srgbClr val="1A2233"/>
                </a:solidFill>
                <a:latin typeface="Arial"/>
              </a:rPr>
              <a:t>  Zylia –76°, Zoom –99°  →  Zoom in front</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Read this off every side take</a:t>
            </a:r>
            <a:r>
              <a:rPr sz="1350" b="0" i="0">
                <a:solidFill>
                  <a:srgbClr val="1A2233"/>
                </a:solidFill>
                <a:latin typeface="Arial"/>
              </a:rPr>
              <a:t>  before trusting a distance from 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What the solver actually saw</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The two microphones' full power maps, multiplied over the room. The peak of the product is the reported source.</a:t>
            </a:r>
          </a:p>
        </p:txBody>
      </p:sp>
      <p:pic>
        <p:nvPicPr>
          <p:cNvPr id="4" name="Picture 3" descr="P7_fusedmaps.png"/>
          <p:cNvPicPr>
            <a:picLocks noChangeAspect="1"/>
          </p:cNvPicPr>
          <p:nvPr/>
        </p:nvPicPr>
        <p:blipFill>
          <a:blip r:embed="rId2"/>
          <a:stretch>
            <a:fillRect/>
          </a:stretch>
        </p:blipFill>
        <p:spPr>
          <a:xfrm>
            <a:off x="640080" y="1828800"/>
            <a:ext cx="10881360" cy="4175809"/>
          </a:xfrm>
          <a:prstGeom prst="rect">
            <a:avLst/>
          </a:prstGeom>
        </p:spPr>
      </p:pic>
      <p:sp>
        <p:nvSpPr>
          <p:cNvPr id="5" name="TextBox 4"/>
          <p:cNvSpPr txBox="1"/>
          <p:nvPr/>
        </p:nvSpPr>
        <p:spPr>
          <a:xfrm>
            <a:off x="640080" y="6080760"/>
            <a:ext cx="10881360" cy="228600"/>
          </a:xfrm>
          <a:prstGeom prst="rect">
            <a:avLst/>
          </a:prstGeom>
          <a:noFill/>
        </p:spPr>
        <p:txBody>
          <a:bodyPr wrap="square" lIns="0" rIns="0" tIns="0" bIns="0">
            <a:spAutoFit/>
          </a:bodyPr>
          <a:lstStyle/>
          <a:p>
            <a:r>
              <a:rPr sz="1200" b="0" i="0">
                <a:solidFill>
                  <a:srgbClr val="5B6472"/>
                </a:solidFill>
                <a:latin typeface="Arial"/>
              </a:rPr>
              <a:t>All three ridges point in the right DIRECTION — azimuth is fine everywhere. On takes 4 and 5 the peak slides along the ridge, because where it settles is set by the twist, and the twist was wrong.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The trap: do not fit the twist to the answer</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The twist for takes 4 and 5 can be recovered from the azimuth error against the known source direction. It is tempting, and it is worthless.</a:t>
            </a:r>
          </a:p>
        </p:txBody>
      </p:sp>
      <p:pic>
        <p:nvPicPr>
          <p:cNvPr id="4" name="Picture 3" descr="P14_circular.png"/>
          <p:cNvPicPr>
            <a:picLocks noChangeAspect="1"/>
          </p:cNvPicPr>
          <p:nvPr/>
        </p:nvPicPr>
        <p:blipFill>
          <a:blip r:embed="rId2"/>
          <a:stretch>
            <a:fillRect/>
          </a:stretch>
        </p:blipFill>
        <p:spPr>
          <a:xfrm>
            <a:off x="640080" y="1965960"/>
            <a:ext cx="6400800" cy="3592707"/>
          </a:xfrm>
          <a:prstGeom prst="rect">
            <a:avLst/>
          </a:prstGeom>
        </p:spPr>
      </p:pic>
      <p:sp>
        <p:nvSpPr>
          <p:cNvPr id="5" name="TextBox 4"/>
          <p:cNvSpPr txBox="1"/>
          <p:nvPr/>
        </p:nvSpPr>
        <p:spPr>
          <a:xfrm>
            <a:off x="7406640" y="2103120"/>
            <a:ext cx="4160520" cy="3840480"/>
          </a:xfrm>
          <a:prstGeom prst="rect">
            <a:avLst/>
          </a:prstGeom>
          <a:noFill/>
        </p:spPr>
        <p:txBody>
          <a:bodyPr wrap="square" lIns="0" rIns="0" tIns="0" bIns="0">
            <a:spAutoFit/>
          </a:bodyPr>
          <a:lstStyle/>
          <a:p>
            <a:pPr>
              <a:lnSpc>
                <a:spcPct val="115000"/>
              </a:lnSpc>
              <a:spcAft>
                <a:spcPts val="300"/>
              </a:spcAft>
            </a:pPr>
            <a:r>
              <a:rPr sz="1300" b="1" i="0">
                <a:solidFill>
                  <a:srgbClr val="1A2233"/>
                </a:solidFill>
                <a:latin typeface="Arial"/>
              </a:rPr>
              <a:t>Fit it that way</a:t>
            </a:r>
            <a:r>
              <a:rPr sz="1300" b="0" i="0">
                <a:solidFill>
                  <a:srgbClr val="1A2233"/>
                </a:solidFill>
                <a:latin typeface="Arial"/>
              </a:rPr>
              <a:t>  and the distance comes back at exactly 1.50 m. Both takes. Every time.</a:t>
            </a:r>
          </a:p>
          <a:p>
            <a:pPr>
              <a:lnSpc>
                <a:spcPct val="115000"/>
              </a:lnSpc>
              <a:spcAft>
                <a:spcPts val="300"/>
              </a:spcAft>
            </a:pPr>
            <a:r>
              <a:rPr sz="1300" b="0" i="0">
                <a:solidFill>
                  <a:srgbClr val="1A2233"/>
                </a:solidFill>
                <a:latin typeface="Arial"/>
              </a:rPr>
              <a:t/>
            </a:r>
          </a:p>
          <a:p>
            <a:pPr>
              <a:lnSpc>
                <a:spcPct val="115000"/>
              </a:lnSpc>
              <a:spcAft>
                <a:spcPts val="300"/>
              </a:spcAft>
            </a:pPr>
            <a:r>
              <a:rPr sz="1300" b="1" i="0">
                <a:solidFill>
                  <a:srgbClr val="1A2233"/>
                </a:solidFill>
                <a:latin typeface="Arial"/>
              </a:rPr>
              <a:t>That is not a confirmation.</a:t>
            </a:r>
            <a:r>
              <a:rPr sz="1300" b="0" i="0">
                <a:solidFill>
                  <a:srgbClr val="1A2233"/>
                </a:solidFill>
                <a:latin typeface="Arial"/>
              </a:rPr>
              <a:t>  What is left after the fit is a rotation COMMON to both rays, and a common rotation swings the answer around the midpoint without changing its RANGE.</a:t>
            </a:r>
          </a:p>
          <a:p>
            <a:pPr>
              <a:lnSpc>
                <a:spcPct val="115000"/>
              </a:lnSpc>
              <a:spcAft>
                <a:spcPts val="300"/>
              </a:spcAft>
            </a:pPr>
            <a:r>
              <a:rPr sz="1300" b="0" i="0">
                <a:solidFill>
                  <a:srgbClr val="1A2233"/>
                </a:solidFill>
                <a:latin typeface="Arial"/>
              </a:rPr>
              <a:t/>
            </a:r>
          </a:p>
          <a:p>
            <a:pPr>
              <a:lnSpc>
                <a:spcPct val="115000"/>
              </a:lnSpc>
              <a:spcAft>
                <a:spcPts val="300"/>
              </a:spcAft>
            </a:pPr>
            <a:r>
              <a:rPr sz="1300" b="1" i="0">
                <a:solidFill>
                  <a:srgbClr val="1A2233"/>
                </a:solidFill>
                <a:latin typeface="Arial"/>
              </a:rPr>
              <a:t>So 1.50 m falls out by construction</a:t>
            </a:r>
            <a:r>
              <a:rPr sz="1300" b="0" i="0">
                <a:solidFill>
                  <a:srgbClr val="1A2233"/>
                </a:solidFill>
                <a:latin typeface="Arial"/>
              </a:rPr>
              <a:t>  — it would do so even if the true distance were 3 m. It is arithmetic, not evidence.</a:t>
            </a:r>
          </a:p>
          <a:p>
            <a:pPr>
              <a:lnSpc>
                <a:spcPct val="115000"/>
              </a:lnSpc>
              <a:spcAft>
                <a:spcPts val="300"/>
              </a:spcAft>
            </a:pPr>
            <a:r>
              <a:rPr sz="1300" b="0" i="0">
                <a:solidFill>
                  <a:srgbClr val="1A2233"/>
                </a:solidFill>
                <a:latin typeface="Arial"/>
              </a:rPr>
              <a:t/>
            </a:r>
          </a:p>
          <a:p>
            <a:pPr>
              <a:lnSpc>
                <a:spcPct val="115000"/>
              </a:lnSpc>
              <a:spcAft>
                <a:spcPts val="300"/>
              </a:spcAft>
            </a:pPr>
            <a:r>
              <a:rPr sz="1300" b="1" i="0">
                <a:solidFill>
                  <a:srgbClr val="1A2233"/>
                </a:solidFill>
                <a:latin typeface="Arial"/>
              </a:rPr>
              <a:t>Contrast the front takes,</a:t>
            </a:r>
            <a:r>
              <a:rPr sz="1300" b="0" i="0">
                <a:solidFill>
                  <a:srgbClr val="1A2233"/>
                </a:solidFill>
                <a:latin typeface="Arial"/>
              </a:rPr>
              <a:t>  where the twist came from three takes at once and was then checked against a distance nobody had used to derive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Elevation: it works, and the pipeline was losing it</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Take 3 clapped above head height. Three independent measurements put the source at about +16°. The pipeline reported 2.6°.</a:t>
            </a:r>
          </a:p>
        </p:txBody>
      </p:sp>
      <p:pic>
        <p:nvPicPr>
          <p:cNvPr id="4" name="Picture 3" descr="P8_elprofile.png"/>
          <p:cNvPicPr>
            <a:picLocks noChangeAspect="1"/>
          </p:cNvPicPr>
          <p:nvPr/>
        </p:nvPicPr>
        <p:blipFill>
          <a:blip r:embed="rId2"/>
          <a:stretch>
            <a:fillRect/>
          </a:stretch>
        </p:blipFill>
        <p:spPr>
          <a:xfrm>
            <a:off x="640080" y="1965960"/>
            <a:ext cx="6400800" cy="2255908"/>
          </a:xfrm>
          <a:prstGeom prst="rect">
            <a:avLst/>
          </a:prstGeom>
        </p:spPr>
      </p:pic>
      <p:sp>
        <p:nvSpPr>
          <p:cNvPr id="5" name="TextBox 4"/>
          <p:cNvSpPr txBox="1"/>
          <p:nvPr/>
        </p:nvSpPr>
        <p:spPr>
          <a:xfrm>
            <a:off x="7406640" y="2148840"/>
            <a:ext cx="4160520" cy="3840480"/>
          </a:xfrm>
          <a:prstGeom prst="rect">
            <a:avLst/>
          </a:prstGeom>
          <a:noFill/>
        </p:spPr>
        <p:txBody>
          <a:bodyPr wrap="square" lIns="0" rIns="0" tIns="0" bIns="0">
            <a:spAutoFit/>
          </a:bodyPr>
          <a:lstStyle/>
          <a:p>
            <a:pPr>
              <a:lnSpc>
                <a:spcPct val="115000"/>
              </a:lnSpc>
              <a:spcAft>
                <a:spcPts val="400"/>
              </a:spcAft>
            </a:pPr>
            <a:r>
              <a:rPr sz="1350" b="1" i="0">
                <a:solidFill>
                  <a:srgbClr val="1A2233"/>
                </a:solidFill>
                <a:latin typeface="Arial"/>
              </a:rPr>
              <a:t>Zylia SRP map</a:t>
            </a:r>
            <a:r>
              <a:rPr sz="1350" b="0" i="0">
                <a:solidFill>
                  <a:srgbClr val="1A2233"/>
                </a:solidFill>
                <a:latin typeface="Arial"/>
              </a:rPr>
              <a:t>  +15°  (+20° on claps only)</a:t>
            </a:r>
          </a:p>
          <a:p>
            <a:pPr>
              <a:lnSpc>
                <a:spcPct val="115000"/>
              </a:lnSpc>
              <a:spcAft>
                <a:spcPts val="400"/>
              </a:spcAft>
            </a:pPr>
            <a:r>
              <a:rPr sz="1350" b="1" i="0">
                <a:solidFill>
                  <a:srgbClr val="1A2233"/>
                </a:solidFill>
                <a:latin typeface="Arial"/>
              </a:rPr>
              <a:t>Zylia direct path</a:t>
            </a:r>
            <a:r>
              <a:rPr sz="1350" b="0" i="0">
                <a:solidFill>
                  <a:srgbClr val="1A2233"/>
                </a:solidFill>
                <a:latin typeface="Arial"/>
              </a:rPr>
              <a:t>  +16.9° ± 4.6</a:t>
            </a:r>
          </a:p>
          <a:p>
            <a:pPr>
              <a:lnSpc>
                <a:spcPct val="115000"/>
              </a:lnSpc>
              <a:spcAft>
                <a:spcPts val="400"/>
              </a:spcAft>
            </a:pPr>
            <a:r>
              <a:rPr sz="1350" b="1" i="0">
                <a:solidFill>
                  <a:srgbClr val="1A2233"/>
                </a:solidFill>
                <a:latin typeface="Arial"/>
              </a:rPr>
              <a:t>Zoom direct path</a:t>
            </a:r>
            <a:r>
              <a:rPr sz="1350" b="0" i="0">
                <a:solidFill>
                  <a:srgbClr val="1A2233"/>
                </a:solidFill>
                <a:latin typeface="Arial"/>
              </a:rPr>
              <a:t>  +14.7° ± 2.9</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The elevation was always there.</a:t>
            </a:r>
            <a:r>
              <a:rPr sz="1350" b="0" i="0">
                <a:solidFill>
                  <a:srgbClr val="1A2233"/>
                </a:solidFill>
                <a:latin typeface="Arial"/>
              </a:rPr>
              <a:t>  It was being averaged away.</a:t>
            </a:r>
          </a:p>
          <a:p>
            <a:pPr>
              <a:lnSpc>
                <a:spcPct val="115000"/>
              </a:lnSpc>
              <a:spcAft>
                <a:spcPts val="400"/>
              </a:spcAft>
            </a:pPr>
            <a:r>
              <a:rPr sz="1350" b="0" i="0">
                <a:solidFill>
                  <a:srgbClr val="1A2233"/>
                </a:solidFill>
                <a:latin typeface="Arial"/>
              </a:rPr>
              <a:t/>
            </a:r>
          </a:p>
          <a:p>
            <a:pPr>
              <a:lnSpc>
                <a:spcPct val="115000"/>
              </a:lnSpc>
              <a:spcAft>
                <a:spcPts val="400"/>
              </a:spcAft>
            </a:pPr>
            <a:r>
              <a:rPr sz="1350" b="1" i="0">
                <a:solidFill>
                  <a:srgbClr val="1A2233"/>
                </a:solidFill>
                <a:latin typeface="Arial"/>
              </a:rPr>
              <a:t>Fixed:</a:t>
            </a:r>
            <a:r>
              <a:rPr sz="1350" b="0" i="0">
                <a:solidFill>
                  <a:srgbClr val="1A2233"/>
                </a:solidFill>
                <a:latin typeface="Arial"/>
              </a:rPr>
              <a:t>  elevation now comes from the Zylia's accumulated map. Reads 0.0° on all four flat takes and +15.6° on this one.</a:t>
            </a:r>
          </a:p>
        </p:txBody>
      </p:sp>
      <p:sp>
        <p:nvSpPr>
          <p:cNvPr id="6" name="TextBox 5"/>
          <p:cNvSpPr txBox="1"/>
          <p:nvPr/>
        </p:nvSpPr>
        <p:spPr>
          <a:xfrm>
            <a:off x="640080" y="5806440"/>
            <a:ext cx="10881360" cy="228600"/>
          </a:xfrm>
          <a:prstGeom prst="rect">
            <a:avLst/>
          </a:prstGeom>
          <a:noFill/>
        </p:spPr>
        <p:txBody>
          <a:bodyPr wrap="square" lIns="0" rIns="0" tIns="0" bIns="0">
            <a:spAutoFit/>
          </a:bodyPr>
          <a:lstStyle/>
          <a:p>
            <a:r>
              <a:rPr sz="1200" b="0" i="0">
                <a:solidFill>
                  <a:srgbClr val="5B6472"/>
                </a:solidFill>
                <a:latin typeface="Arial"/>
              </a:rPr>
              <a:t>+16.9° at 1.5 m means the clap was 0.46 m above the mic. The real clap and mic heights were never tape-measured.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Why the Zoom contributes no elevation at all</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Its vertical SRP peaks at exactly 0.0° in all five takes — including the elevated one.</a:t>
            </a:r>
          </a:p>
        </p:txBody>
      </p:sp>
      <p:sp>
        <p:nvSpPr>
          <p:cNvPr id="4" name="TextBox 3"/>
          <p:cNvSpPr txBox="1"/>
          <p:nvPr/>
        </p:nvSpPr>
        <p:spPr>
          <a:xfrm>
            <a:off x="640080" y="2011680"/>
            <a:ext cx="10972800" cy="3840480"/>
          </a:xfrm>
          <a:prstGeom prst="rect">
            <a:avLst/>
          </a:prstGeom>
          <a:noFill/>
        </p:spPr>
        <p:txBody>
          <a:bodyPr wrap="square" lIns="0" rIns="0" tIns="0" bIns="0">
            <a:spAutoFit/>
          </a:bodyPr>
          <a:lstStyle/>
          <a:p>
            <a:pPr>
              <a:lnSpc>
                <a:spcPct val="115000"/>
              </a:lnSpc>
              <a:spcAft>
                <a:spcPts val="900"/>
              </a:spcAft>
            </a:pPr>
            <a:r>
              <a:rPr sz="1550" b="1" i="0">
                <a:solidFill>
                  <a:srgbClr val="1A2233"/>
                </a:solidFill>
                <a:latin typeface="Arial"/>
              </a:rPr>
              <a:t>The profile is symmetric to two decimals</a:t>
            </a:r>
            <a:r>
              <a:rPr sz="1550" b="0" i="0">
                <a:solidFill>
                  <a:srgbClr val="1A2233"/>
                </a:solidFill>
                <a:latin typeface="Arial"/>
              </a:rPr>
              <a:t>  and essentially identical between the elevated take and the flat control. It is not measuring the source; it is measuring the room.</a:t>
            </a:r>
          </a:p>
          <a:p>
            <a:pPr>
              <a:lnSpc>
                <a:spcPct val="115000"/>
              </a:lnSpc>
              <a:spcAft>
                <a:spcPts val="900"/>
              </a:spcAft>
            </a:pPr>
            <a:r>
              <a:rPr sz="1550" b="1" i="0">
                <a:solidFill>
                  <a:srgbClr val="1A2233"/>
                </a:solidFill>
                <a:latin typeface="Arial"/>
              </a:rPr>
              <a:t>At 1st order the vertical beam is too broad</a:t>
            </a:r>
            <a:r>
              <a:rPr sz="1550" b="0" i="0">
                <a:solidFill>
                  <a:srgbClr val="1A2233"/>
                </a:solidFill>
                <a:latin typeface="Arial"/>
              </a:rPr>
              <a:t>  to beat the reverberant field, and a diffuse field is symmetric about the horizontal plane. So it peaks at 0°, always.</a:t>
            </a:r>
          </a:p>
          <a:p>
            <a:pPr>
              <a:lnSpc>
                <a:spcPct val="115000"/>
              </a:lnSpc>
              <a:spcAft>
                <a:spcPts val="900"/>
              </a:spcAft>
            </a:pPr>
            <a:r>
              <a:rPr sz="1550" b="1" i="0">
                <a:solidFill>
                  <a:srgbClr val="1A2233"/>
                </a:solidFill>
                <a:latin typeface="Arial"/>
              </a:rPr>
              <a:t>The hardware is fine.</a:t>
            </a:r>
            <a:r>
              <a:rPr sz="1550" b="0" i="0">
                <a:solidFill>
                  <a:srgbClr val="1A2233"/>
                </a:solidFill>
                <a:latin typeface="Arial"/>
              </a:rPr>
              <a:t>  The Z channel sits at –3.2 dB relative to W, and direct-path pseudo-intensity on the Zoom's own claps returned +14.7°. This is an estimator limit, not a broken microphone.</a:t>
            </a:r>
          </a:p>
          <a:p>
            <a:pPr>
              <a:lnSpc>
                <a:spcPct val="115000"/>
              </a:lnSpc>
              <a:spcAft>
                <a:spcPts val="900"/>
              </a:spcAft>
            </a:pPr>
            <a:r>
              <a:rPr sz="1550" b="1" i="0">
                <a:solidFill>
                  <a:srgbClr val="1A2233"/>
                </a:solidFill>
                <a:latin typeface="Arial"/>
              </a:rPr>
              <a:t>Why it mattered:</a:t>
            </a:r>
            <a:r>
              <a:rPr sz="1550" b="0" i="0">
                <a:solidFill>
                  <a:srgbClr val="1A2233"/>
                </a:solidFill>
                <a:latin typeface="Arial"/>
              </a:rPr>
              <a:t>  the old code averaged the two mics' elevations. Averaging a correct +16° against a stuck 0° halves it.</a:t>
            </a:r>
          </a:p>
          <a:p>
            <a:pPr>
              <a:lnSpc>
                <a:spcPct val="115000"/>
              </a:lnSpc>
              <a:spcAft>
                <a:spcPts val="900"/>
              </a:spcAft>
            </a:pPr>
            <a:r>
              <a:rPr sz="1550" b="0" i="0">
                <a:solidFill>
                  <a:srgbClr val="1A2233"/>
                </a:solidFill>
                <a:latin typeface="Arial"/>
              </a:rPr>
              <a:t/>
            </a:r>
          </a:p>
          <a:p>
            <a:pPr>
              <a:lnSpc>
                <a:spcPct val="115000"/>
              </a:lnSpc>
              <a:spcAft>
                <a:spcPts val="900"/>
              </a:spcAft>
            </a:pPr>
            <a:r>
              <a:rPr sz="1550" b="1" i="0">
                <a:solidFill>
                  <a:srgbClr val="1A2233"/>
                </a:solidFill>
                <a:latin typeface="Arial"/>
              </a:rPr>
              <a:t>A first-order microphone can tell you</a:t>
            </a:r>
            <a:r>
              <a:rPr sz="1550" b="0" i="0">
                <a:solidFill>
                  <a:srgbClr val="1A2233"/>
                </a:solidFill>
                <a:latin typeface="Arial"/>
              </a:rPr>
              <a:t>  which way something is in the horizontal plane. It cannot tell you how high it is, in a real room.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Two faults stacked to turn +17° into 2.6°</a:t>
            </a:r>
          </a:p>
        </p:txBody>
      </p:sp>
      <p:pic>
        <p:nvPicPr>
          <p:cNvPr id="3" name="Picture 2" descr="P12_elfix.png"/>
          <p:cNvPicPr>
            <a:picLocks noChangeAspect="1"/>
          </p:cNvPicPr>
          <p:nvPr/>
        </p:nvPicPr>
        <p:blipFill>
          <a:blip r:embed="rId2"/>
          <a:stretch>
            <a:fillRect/>
          </a:stretch>
        </p:blipFill>
        <p:spPr>
          <a:xfrm>
            <a:off x="640080" y="1554480"/>
            <a:ext cx="10881360" cy="4811213"/>
          </a:xfrm>
          <a:prstGeom prst="rect">
            <a:avLst/>
          </a:prstGeom>
        </p:spPr>
      </p:pic>
      <p:sp>
        <p:nvSpPr>
          <p:cNvPr id="4" name="TextBox 3"/>
          <p:cNvSpPr txBox="1"/>
          <p:nvPr/>
        </p:nvSpPr>
        <p:spPr>
          <a:xfrm>
            <a:off x="640080" y="6035040"/>
            <a:ext cx="10881360" cy="228600"/>
          </a:xfrm>
          <a:prstGeom prst="rect">
            <a:avLst/>
          </a:prstGeom>
          <a:noFill/>
        </p:spPr>
        <p:txBody>
          <a:bodyPr wrap="square" lIns="0" rIns="0" tIns="0" bIns="0">
            <a:spAutoFit/>
          </a:bodyPr>
          <a:lstStyle/>
          <a:p>
            <a:r>
              <a:rPr sz="1200" b="0" i="0">
                <a:solidFill>
                  <a:srgbClr val="5B6472"/>
                </a:solidFill>
                <a:latin typeface="Arial"/>
              </a:rPr>
              <a:t>Neither fault alone would have been obvious: the Zoom's stuck zero halves the answer, and the per-frame median on clap material collapses the rest. Together they buried a real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The raw evidence, per microphone</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Accumulated steered-response power against azimuth, every usable frame, for all five takes.</a:t>
            </a:r>
          </a:p>
        </p:txBody>
      </p:sp>
      <p:pic>
        <p:nvPicPr>
          <p:cNvPr id="4" name="Picture 3" descr="P10_azmaps.png"/>
          <p:cNvPicPr>
            <a:picLocks noChangeAspect="1"/>
          </p:cNvPicPr>
          <p:nvPr/>
        </p:nvPicPr>
        <p:blipFill>
          <a:blip r:embed="rId2"/>
          <a:stretch>
            <a:fillRect/>
          </a:stretch>
        </p:blipFill>
        <p:spPr>
          <a:xfrm>
            <a:off x="640080" y="1828800"/>
            <a:ext cx="10881360" cy="2836444"/>
          </a:xfrm>
          <a:prstGeom prst="rect">
            <a:avLst/>
          </a:prstGeom>
        </p:spPr>
      </p:pic>
      <p:sp>
        <p:nvSpPr>
          <p:cNvPr id="5" name="TextBox 4"/>
          <p:cNvSpPr txBox="1"/>
          <p:nvPr/>
        </p:nvSpPr>
        <p:spPr>
          <a:xfrm>
            <a:off x="640080" y="6035040"/>
            <a:ext cx="10881360" cy="228600"/>
          </a:xfrm>
          <a:prstGeom prst="rect">
            <a:avLst/>
          </a:prstGeom>
          <a:noFill/>
        </p:spPr>
        <p:txBody>
          <a:bodyPr wrap="square" lIns="0" rIns="0" tIns="0" bIns="0">
            <a:spAutoFit/>
          </a:bodyPr>
          <a:lstStyle/>
          <a:p>
            <a:r>
              <a:rPr sz="1200" b="0" i="0">
                <a:solidFill>
                  <a:srgbClr val="5B6472"/>
                </a:solidFill>
                <a:latin typeface="Arial"/>
              </a:rPr>
              <a:t>On every take, including both side takes, each mic's lobe sits on the bearing it should. Direction was never the problem — the two lobes separate cleanly even where the reported distance was 60% out.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What the guards catch, and what they never will</a:t>
            </a:r>
          </a:p>
        </p:txBody>
      </p:sp>
      <p:sp>
        <p:nvSpPr>
          <p:cNvPr id="3" name="TextBox 2"/>
          <p:cNvSpPr txBox="1"/>
          <p:nvPr/>
        </p:nvSpPr>
        <p:spPr>
          <a:xfrm>
            <a:off x="640080" y="1417320"/>
            <a:ext cx="10972800" cy="365760"/>
          </a:xfrm>
          <a:prstGeom prst="rect">
            <a:avLst/>
          </a:prstGeom>
          <a:noFill/>
        </p:spPr>
        <p:txBody>
          <a:bodyPr wrap="square" lIns="0" rIns="0" tIns="0" bIns="0">
            <a:spAutoFit/>
          </a:bodyPr>
          <a:lstStyle/>
          <a:p>
            <a:r>
              <a:rPr sz="1500" b="0" i="0">
                <a:solidFill>
                  <a:srgbClr val="1A2233"/>
                </a:solidFill>
                <a:latin typeface="Arial"/>
              </a:rPr>
              <a:t>Three tests now run on every take. One take in this set is still wrong and still passes all three.</a:t>
            </a:r>
          </a:p>
        </p:txBody>
      </p:sp>
      <p:graphicFrame>
        <p:nvGraphicFramePr>
          <p:cNvPr id="4" name="Table 3"/>
          <p:cNvGraphicFramePr>
            <a:graphicFrameLocks noGrp="1"/>
          </p:cNvGraphicFramePr>
          <p:nvPr/>
        </p:nvGraphicFramePr>
        <p:xfrm>
          <a:off x="640080" y="2103120"/>
          <a:ext cx="10881360" cy="1371600"/>
        </p:xfrm>
        <a:graphic>
          <a:graphicData uri="http://schemas.openxmlformats.org/drawingml/2006/table">
            <a:tbl>
              <a:tblPr>
                <a:tableStyleId>{5C22544A-7EE6-4342-B048-85BDC9FD1C3A}</a:tableStyleId>
              </a:tblPr>
              <a:tblGrid>
                <a:gridCol w="3017520"/>
                <a:gridCol w="5120640"/>
                <a:gridCol w="2743200"/>
              </a:tblGrid>
              <a:tr h="274320">
                <a:tc>
                  <a:txBody>
                    <a:bodyPr wrap="square"/>
                    <a:lstStyle/>
                    <a:p>
                      <a:r>
                        <a:rPr sz="1350" b="1" i="0">
                          <a:solidFill>
                            <a:srgbClr val="5B6472"/>
                          </a:solidFill>
                          <a:latin typeface="Arial"/>
                        </a:rPr>
                        <a:t>guard</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50" b="1" i="0">
                          <a:solidFill>
                            <a:srgbClr val="5B6472"/>
                          </a:solidFill>
                          <a:latin typeface="Arial"/>
                        </a:rPr>
                        <a:t>what it catches</a:t>
                      </a:r>
                    </a:p>
                  </a:txBody>
                  <a:tcPr marL="91440" marR="73152" marT="36576" marB="36576" anchor="ctr">
                    <a:lnB w="12700" cap="flat" cmpd="sng" algn="ctr">
                      <a:solidFill>
                        <a:srgbClr val="B9C2D0"/>
                      </a:solidFill>
                      <a:prstDash val="solid"/>
                    </a:lnB>
                    <a:solidFill>
                      <a:srgbClr val="FFFFFF"/>
                    </a:solidFill>
                  </a:tcPr>
                </a:tc>
                <a:tc>
                  <a:txBody>
                    <a:bodyPr wrap="square"/>
                    <a:lstStyle/>
                    <a:p>
                      <a:r>
                        <a:rPr sz="1350" b="1" i="0">
                          <a:solidFill>
                            <a:srgbClr val="5B6472"/>
                          </a:solidFill>
                          <a:latin typeface="Arial"/>
                        </a:rPr>
                        <a:t>caught here</a:t>
                      </a:r>
                    </a:p>
                  </a:txBody>
                  <a:tcPr marL="91440" marR="73152" marT="36576" marB="36576" anchor="ctr">
                    <a:lnB w="12700" cap="flat" cmpd="sng" algn="ctr">
                      <a:solidFill>
                        <a:srgbClr val="B9C2D0"/>
                      </a:solidFill>
                      <a:prstDash val="solid"/>
                    </a:lnB>
                    <a:solidFill>
                      <a:srgbClr val="FFFFFF"/>
                    </a:solidFill>
                  </a:tcPr>
                </a:tc>
              </a:tr>
              <a:tr h="274320">
                <a:tc>
                  <a:txBody>
                    <a:bodyPr wrap="square"/>
                    <a:lstStyle/>
                    <a:p>
                      <a:r>
                        <a:rPr sz="1350" b="0" i="0">
                          <a:solidFill>
                            <a:srgbClr val="1A2233"/>
                          </a:solidFill>
                          <a:latin typeface="Arial"/>
                        </a:rPr>
                        <a:t>r / B &lt; 3</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source too far for the baseline</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take 4</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50" b="0" i="0">
                          <a:solidFill>
                            <a:srgbClr val="1A2233"/>
                          </a:solidFill>
                          <a:latin typeface="Arial"/>
                        </a:rPr>
                        <a:t>parallax &gt; 10°</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bearings too close to parallel</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50" b="0" i="0">
                          <a:solidFill>
                            <a:srgbClr val="1A2233"/>
                          </a:solidFill>
                          <a:latin typeface="Arial"/>
                        </a:rPr>
                        <a:t>rays cross in front (new)</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geometry inconsistent with both bearings</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1A2233"/>
                          </a:solidFill>
                          <a:latin typeface="Arial"/>
                        </a:rPr>
                        <a:t>take 4</a:t>
                      </a:r>
                    </a:p>
                  </a:txBody>
                  <a:tcPr marL="91440" marR="73152" marT="36576" marB="36576" anchor="ctr">
                    <a:lnB w="7620" cap="flat" cmpd="sng" algn="ctr">
                      <a:solidFill>
                        <a:srgbClr val="E8ECF2"/>
                      </a:solidFill>
                      <a:prstDash val="solid"/>
                    </a:lnB>
                    <a:solidFill>
                      <a:srgbClr val="FFFFFF"/>
                    </a:solidFill>
                  </a:tcPr>
                </a:tc>
              </a:tr>
              <a:tr h="274320">
                <a:tc>
                  <a:txBody>
                    <a:bodyPr wrap="square"/>
                    <a:lstStyle/>
                    <a:p>
                      <a:r>
                        <a:rPr sz="1350" b="0" i="0">
                          <a:solidFill>
                            <a:srgbClr val="C0392B"/>
                          </a:solidFill>
                          <a:latin typeface="Arial"/>
                        </a:rPr>
                        <a:t>unmeasured twist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C0392B"/>
                          </a:solidFill>
                          <a:latin typeface="Arial"/>
                        </a:rPr>
                        <a:t>nothing. No guard can see it.</a:t>
                      </a:r>
                    </a:p>
                  </a:txBody>
                  <a:tcPr marL="91440" marR="73152" marT="36576" marB="36576" anchor="ctr">
                    <a:lnB w="7620" cap="flat" cmpd="sng" algn="ctr">
                      <a:solidFill>
                        <a:srgbClr val="E8ECF2"/>
                      </a:solidFill>
                      <a:prstDash val="solid"/>
                    </a:lnB>
                    <a:solidFill>
                      <a:srgbClr val="FFFFFF"/>
                    </a:solidFill>
                  </a:tcPr>
                </a:tc>
                <a:tc>
                  <a:txBody>
                    <a:bodyPr wrap="square"/>
                    <a:lstStyle/>
                    <a:p>
                      <a:r>
                        <a:rPr sz="1350" b="0" i="0">
                          <a:solidFill>
                            <a:srgbClr val="C0392B"/>
                          </a:solidFill>
                          <a:latin typeface="Arial"/>
                        </a:rPr>
                        <a:t>take 5, +60%</a:t>
                      </a:r>
                    </a:p>
                  </a:txBody>
                  <a:tcPr marL="91440" marR="73152" marT="36576" marB="36576" anchor="ctr">
                    <a:lnB w="7620" cap="flat" cmpd="sng" algn="ctr">
                      <a:solidFill>
                        <a:srgbClr val="E8ECF2"/>
                      </a:solidFill>
                      <a:prstDash val="solid"/>
                    </a:lnB>
                    <a:solidFill>
                      <a:srgbClr val="FFFFFF"/>
                    </a:solidFill>
                  </a:tcPr>
                </a:tc>
              </a:tr>
            </a:tbl>
          </a:graphicData>
        </a:graphic>
      </p:graphicFrame>
      <p:sp>
        <p:nvSpPr>
          <p:cNvPr id="5" name="TextBox 4"/>
          <p:cNvSpPr txBox="1"/>
          <p:nvPr/>
        </p:nvSpPr>
        <p:spPr>
          <a:xfrm>
            <a:off x="640080" y="3977639"/>
            <a:ext cx="10972800" cy="3840480"/>
          </a:xfrm>
          <a:prstGeom prst="rect">
            <a:avLst/>
          </a:prstGeom>
          <a:noFill/>
        </p:spPr>
        <p:txBody>
          <a:bodyPr wrap="square" lIns="0" rIns="0" tIns="0" bIns="0">
            <a:spAutoFit/>
          </a:bodyPr>
          <a:lstStyle/>
          <a:p>
            <a:pPr>
              <a:lnSpc>
                <a:spcPct val="115000"/>
              </a:lnSpc>
              <a:spcAft>
                <a:spcPts val="900"/>
              </a:spcAft>
            </a:pPr>
            <a:r>
              <a:rPr sz="1400" b="1" i="0">
                <a:solidFill>
                  <a:srgbClr val="1A2233"/>
                </a:solidFill>
                <a:latin typeface="Arial"/>
              </a:rPr>
              <a:t>A rotated rig is invisible by construction.</a:t>
            </a:r>
            <a:r>
              <a:rPr sz="1400" b="0" i="0">
                <a:solidFill>
                  <a:srgbClr val="1A2233"/>
                </a:solidFill>
                <a:latin typeface="Arial"/>
              </a:rPr>
              <a:t>  It produces two perfectly self-consistent bearings that simply cross in the wrong place. Nothing in the audio contradicts them.</a:t>
            </a:r>
          </a:p>
          <a:p>
            <a:pPr>
              <a:lnSpc>
                <a:spcPct val="115000"/>
              </a:lnSpc>
              <a:spcAft>
                <a:spcPts val="900"/>
              </a:spcAft>
            </a:pPr>
            <a:r>
              <a:rPr sz="1400" b="1" i="0">
                <a:solidFill>
                  <a:srgbClr val="1A2233"/>
                </a:solidFill>
                <a:latin typeface="Arial"/>
              </a:rPr>
              <a:t>The 11 August front take does the same thing</a:t>
            </a:r>
            <a:r>
              <a:rPr sz="1400" b="0" i="0">
                <a:solidFill>
                  <a:srgbClr val="1A2233"/>
                </a:solidFill>
                <a:latin typeface="Arial"/>
              </a:rPr>
              <a:t>  — reports 2.78 m against 1.50 m truth, +85%, and passes everything.</a:t>
            </a:r>
          </a:p>
          <a:p>
            <a:pPr>
              <a:lnSpc>
                <a:spcPct val="115000"/>
              </a:lnSpc>
              <a:spcAft>
                <a:spcPts val="900"/>
              </a:spcAft>
            </a:pPr>
            <a:r>
              <a:rPr sz="1400" b="1" i="0">
                <a:solidFill>
                  <a:srgbClr val="1A2233"/>
                </a:solidFill>
                <a:latin typeface="Arial"/>
              </a:rPr>
              <a:t>Only check_mic_yaw.m catches it,</a:t>
            </a:r>
            <a:r>
              <a:rPr sz="1400" b="0" i="0">
                <a:solidFill>
                  <a:srgbClr val="1A2233"/>
                </a:solidFill>
                <a:latin typeface="Arial"/>
              </a:rPr>
              <a:t>  and it needs a front take and a back take from the same setup.</a:t>
            </a:r>
          </a:p>
          <a:p>
            <a:pPr>
              <a:lnSpc>
                <a:spcPct val="115000"/>
              </a:lnSpc>
              <a:spcAft>
                <a:spcPts val="900"/>
              </a:spcAft>
            </a:pPr>
            <a:r>
              <a:rPr sz="1400" b="0" i="0">
                <a:solidFill>
                  <a:srgbClr val="1A2233"/>
                </a:solidFill>
                <a:latin typeface="Arial"/>
              </a:rPr>
              <a:t/>
            </a:r>
          </a:p>
          <a:p>
            <a:pPr>
              <a:lnSpc>
                <a:spcPct val="115000"/>
              </a:lnSpc>
              <a:spcAft>
                <a:spcPts val="900"/>
              </a:spcAft>
            </a:pPr>
            <a:r>
              <a:rPr sz="1400" b="1" i="0">
                <a:solidFill>
                  <a:srgbClr val="1A2233"/>
                </a:solidFill>
                <a:latin typeface="Arial"/>
              </a:rPr>
              <a:t>“Trusted” means the geometry is self-consistent.</a:t>
            </a:r>
            <a:r>
              <a:rPr sz="1400" b="0" i="0">
                <a:solidFill>
                  <a:srgbClr val="1A2233"/>
                </a:solidFill>
                <a:latin typeface="Arial"/>
              </a:rPr>
              <a:t>  It has never meant “correct”.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Recording protocol, updated</a:t>
            </a:r>
          </a:p>
        </p:txBody>
      </p:sp>
      <p:sp>
        <p:nvSpPr>
          <p:cNvPr id="3" name="TextBox 2"/>
          <p:cNvSpPr txBox="1"/>
          <p:nvPr/>
        </p:nvSpPr>
        <p:spPr>
          <a:xfrm>
            <a:off x="640080" y="1828800"/>
            <a:ext cx="10972800" cy="3840480"/>
          </a:xfrm>
          <a:prstGeom prst="rect">
            <a:avLst/>
          </a:prstGeom>
          <a:noFill/>
        </p:spPr>
        <p:txBody>
          <a:bodyPr wrap="square" lIns="0" rIns="0" tIns="0" bIns="0">
            <a:spAutoFit/>
          </a:bodyPr>
          <a:lstStyle/>
          <a:p>
            <a:pPr>
              <a:lnSpc>
                <a:spcPct val="115000"/>
              </a:lnSpc>
              <a:spcAft>
                <a:spcPts val="700"/>
              </a:spcAft>
            </a:pPr>
            <a:r>
              <a:rPr sz="1450" b="1" i="0">
                <a:solidFill>
                  <a:srgbClr val="1A2233"/>
                </a:solidFill>
                <a:latin typeface="Arial"/>
              </a:rPr>
              <a:t>1.  Tape the floor and label which mic is FRONT.</a:t>
            </a:r>
            <a:r>
              <a:rPr sz="1450" b="0" i="0">
                <a:solidFill>
                  <a:srgbClr val="1A2233"/>
                </a:solidFill>
                <a:latin typeface="Arial"/>
              </a:rPr>
              <a:t>  The two front-back arrangements give completely different distances and cannot be told apart from the audio afterwards. This one line would have saved both side takes.</a:t>
            </a:r>
          </a:p>
          <a:p>
            <a:pPr>
              <a:lnSpc>
                <a:spcPct val="115000"/>
              </a:lnSpc>
              <a:spcAft>
                <a:spcPts val="700"/>
              </a:spcAft>
            </a:pPr>
            <a:r>
              <a:rPr sz="1450" b="1" i="0">
                <a:solidFill>
                  <a:srgbClr val="1A2233"/>
                </a:solidFill>
                <a:latin typeface="Arial"/>
              </a:rPr>
              <a:t>2.  Record a front take AND a back take, without moving the mics.</a:t>
            </a:r>
            <a:r>
              <a:rPr sz="1450" b="0" i="0">
                <a:solidFill>
                  <a:srgbClr val="1A2233"/>
                </a:solidFill>
                <a:latin typeface="Arial"/>
              </a:rPr>
              <a:t>  check_mic_yaw.m measures the twist from those two alone, with no ground truth. One extra minute, and the twist stops being a free parameter.</a:t>
            </a:r>
          </a:p>
          <a:p>
            <a:pPr>
              <a:lnSpc>
                <a:spcPct val="115000"/>
              </a:lnSpc>
              <a:spcAft>
                <a:spcPts val="700"/>
              </a:spcAft>
            </a:pPr>
            <a:r>
              <a:rPr sz="1450" b="1" i="0">
                <a:solidFill>
                  <a:srgbClr val="1A2233"/>
                </a:solidFill>
                <a:latin typeface="Arial"/>
              </a:rPr>
              <a:t>3.  Keep the source broadside</a:t>
            </a:r>
            <a:r>
              <a:rPr sz="1450" b="0" i="0">
                <a:solidFill>
                  <a:srgbClr val="1A2233"/>
                </a:solidFill>
                <a:latin typeface="Arial"/>
              </a:rPr>
              <a:t>  — within about 60° of the perpendicular bisector. Aim the blind axis away from where the source will be.</a:t>
            </a:r>
          </a:p>
          <a:p>
            <a:pPr>
              <a:lnSpc>
                <a:spcPct val="115000"/>
              </a:lnSpc>
              <a:spcAft>
                <a:spcPts val="700"/>
              </a:spcAft>
            </a:pPr>
            <a:r>
              <a:rPr sz="1450" b="1" i="0">
                <a:solidFill>
                  <a:srgbClr val="1A2233"/>
                </a:solidFill>
                <a:latin typeface="Arial"/>
              </a:rPr>
              <a:t>4.  Never rebuild the rig mid-session</a:t>
            </a:r>
            <a:r>
              <a:rPr sz="1450" b="0" i="0">
                <a:solidFill>
                  <a:srgbClr val="1A2233"/>
                </a:solidFill>
                <a:latin typeface="Arial"/>
              </a:rPr>
              <a:t>  without re-measuring. The twist does not survive a teardown, and nothing downstream can detect that it changed.</a:t>
            </a:r>
          </a:p>
          <a:p>
            <a:pPr>
              <a:lnSpc>
                <a:spcPct val="115000"/>
              </a:lnSpc>
              <a:spcAft>
                <a:spcPts val="700"/>
              </a:spcAft>
            </a:pPr>
            <a:r>
              <a:rPr sz="1450" b="1" i="0">
                <a:solidFill>
                  <a:srgbClr val="1A2233"/>
                </a:solidFill>
                <a:latin typeface="Arial"/>
              </a:rPr>
              <a:t>5.  Drop the H3-VR input gain about 12 dB.</a:t>
            </a:r>
            <a:r>
              <a:rPr sz="1450" b="0" i="0">
                <a:solidFill>
                  <a:srgbClr val="1A2233"/>
                </a:solidFill>
                <a:latin typeface="Arial"/>
              </a:rPr>
              <a:t>  It clipped on every clap in all five takes — 2400 to 5600 samples — which cost most of its direct-path evidence.</a:t>
            </a:r>
          </a:p>
          <a:p>
            <a:pPr>
              <a:lnSpc>
                <a:spcPct val="115000"/>
              </a:lnSpc>
              <a:spcAft>
                <a:spcPts val="700"/>
              </a:spcAft>
            </a:pPr>
            <a:r>
              <a:rPr sz="1450" b="1" i="0">
                <a:solidFill>
                  <a:srgbClr val="1A2233"/>
                </a:solidFill>
                <a:latin typeface="Arial"/>
              </a:rPr>
              <a:t>6.  Tape-measure the mic and clap heights.</a:t>
            </a:r>
            <a:r>
              <a:rPr sz="1450" b="0" i="0">
                <a:solidFill>
                  <a:srgbClr val="1A2233"/>
                </a:solidFill>
                <a:latin typeface="Arial"/>
              </a:rPr>
              <a:t>  The +16.9° elevation is inferred from audio and has never been checked against a ruler.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What changed in the code</a:t>
            </a:r>
          </a:p>
        </p:txBody>
      </p:sp>
      <p:sp>
        <p:nvSpPr>
          <p:cNvPr id="3" name="TextBox 2"/>
          <p:cNvSpPr txBox="1"/>
          <p:nvPr/>
        </p:nvSpPr>
        <p:spPr>
          <a:xfrm>
            <a:off x="640080" y="1828800"/>
            <a:ext cx="10972800" cy="3840480"/>
          </a:xfrm>
          <a:prstGeom prst="rect">
            <a:avLst/>
          </a:prstGeom>
          <a:noFill/>
        </p:spPr>
        <p:txBody>
          <a:bodyPr wrap="square" lIns="0" rIns="0" tIns="0" bIns="0">
            <a:spAutoFit/>
          </a:bodyPr>
          <a:lstStyle/>
          <a:p>
            <a:pPr>
              <a:lnSpc>
                <a:spcPct val="115000"/>
              </a:lnSpc>
              <a:spcAft>
                <a:spcPts val="700"/>
              </a:spcAft>
            </a:pPr>
            <a:r>
              <a:rPr sz="1450" b="1" i="0">
                <a:solidFill>
                  <a:srgbClr val="1A2233"/>
                </a:solidFill>
                <a:latin typeface="Arial"/>
              </a:rPr>
              <a:t>layout is now a per-take setting.</a:t>
            </a:r>
            <a:r>
              <a:rPr sz="1450" b="0" i="0">
                <a:solidFill>
                  <a:srgbClr val="1A2233"/>
                </a:solidFill>
                <a:latin typeface="Arial"/>
              </a:rPr>
              <a:t>  'LR' side by side, 'FB' Zylia in front, 'BF' Zoom in front. Mic positions are no longer hard-coded, so a rebuilt rig is expressible instead of silently mis-modelled.</a:t>
            </a:r>
          </a:p>
          <a:p>
            <a:pPr>
              <a:lnSpc>
                <a:spcPct val="115000"/>
              </a:lnSpc>
              <a:spcAft>
                <a:spcPts val="700"/>
              </a:spcAft>
            </a:pPr>
            <a:r>
              <a:rPr sz="1450" b="1" i="0">
                <a:solidFill>
                  <a:srgbClr val="1A2233"/>
                </a:solidFill>
                <a:latin typeface="Arial"/>
              </a:rPr>
              <a:t>Degrees off broadside is reported</a:t>
            </a:r>
            <a:r>
              <a:rPr sz="1450" b="0" i="0">
                <a:solidFill>
                  <a:srgbClr val="1A2233"/>
                </a:solidFill>
                <a:latin typeface="Arial"/>
              </a:rPr>
              <a:t>  above the answer, with the expected parallax next to the measured one. It says whether a distance was possible before you read what it was.</a:t>
            </a:r>
          </a:p>
          <a:p>
            <a:pPr>
              <a:lnSpc>
                <a:spcPct val="115000"/>
              </a:lnSpc>
              <a:spcAft>
                <a:spcPts val="700"/>
              </a:spcAft>
            </a:pPr>
            <a:r>
              <a:rPr sz="1450" b="1" i="0">
                <a:solidFill>
                  <a:srgbClr val="1A2233"/>
                </a:solidFill>
                <a:latin typeface="Arial"/>
              </a:rPr>
              <a:t>triangulate.m gained a forward-crossing test.</a:t>
            </a:r>
            <a:r>
              <a:rPr sz="1450" b="0" i="0">
                <a:solidFill>
                  <a:srgbClr val="1A2233"/>
                </a:solidFill>
                <a:latin typeface="Arial"/>
              </a:rPr>
              <a:t>  It asks whether any point in front of both mics is consistent with both bearings. When it fails it now also reports which rig orientations WOULD have worked.</a:t>
            </a:r>
          </a:p>
          <a:p>
            <a:pPr>
              <a:lnSpc>
                <a:spcPct val="115000"/>
              </a:lnSpc>
              <a:spcAft>
                <a:spcPts val="700"/>
              </a:spcAft>
            </a:pPr>
            <a:r>
              <a:rPr sz="1450" b="1" i="0">
                <a:solidFill>
                  <a:srgbClr val="1A2233"/>
                </a:solidFill>
                <a:latin typeface="Arial"/>
              </a:rPr>
              <a:t>Elevation comes from the Zylia's map</a:t>
            </a:r>
            <a:r>
              <a:rPr sz="1450" b="0" i="0">
                <a:solidFill>
                  <a:srgbClr val="1A2233"/>
                </a:solidFill>
                <a:latin typeface="Arial"/>
              </a:rPr>
              <a:t>  instead of the mean of two per-frame medians. run_doa.m itself is untouched.</a:t>
            </a:r>
          </a:p>
          <a:p>
            <a:pPr>
              <a:lnSpc>
                <a:spcPct val="115000"/>
              </a:lnSpc>
              <a:spcAft>
                <a:spcPts val="700"/>
              </a:spcAft>
            </a:pPr>
            <a:r>
              <a:rPr sz="1450" b="1" i="0">
                <a:solidFill>
                  <a:srgbClr val="1A2233"/>
                </a:solidFill>
                <a:latin typeface="Arial"/>
              </a:rPr>
              <a:t>test_all_takes.m</a:t>
            </a:r>
            <a:r>
              <a:rPr sz="1450" b="0" i="0">
                <a:solidFill>
                  <a:srgbClr val="1A2233"/>
                </a:solidFill>
                <a:latin typeface="Arial"/>
              </a:rPr>
              <a:t>  reruns every take on record after any code change and prints one scoreboard. It rebuilds main_2mic.m rather than reimplementing it, so it cannot drift from what the real script does.</a:t>
            </a:r>
          </a:p>
          <a:p>
            <a:pPr>
              <a:lnSpc>
                <a:spcPct val="115000"/>
              </a:lnSpc>
              <a:spcAft>
                <a:spcPts val="700"/>
              </a:spcAft>
            </a:pPr>
            <a:r>
              <a:rPr sz="1450" b="0" i="0">
                <a:solidFill>
                  <a:srgbClr val="1A2233"/>
                </a:solidFill>
                <a:latin typeface="Arial"/>
              </a:rPr>
              <a:t/>
            </a:r>
          </a:p>
          <a:p>
            <a:pPr>
              <a:lnSpc>
                <a:spcPct val="115000"/>
              </a:lnSpc>
              <a:spcAft>
                <a:spcPts val="700"/>
              </a:spcAft>
            </a:pPr>
            <a:r>
              <a:rPr sz="1450" b="1" i="0">
                <a:solidFill>
                  <a:srgbClr val="1A2233"/>
                </a:solidFill>
                <a:latin typeface="Arial"/>
              </a:rPr>
              <a:t>main_2mic.m is unchanged in how it is used</a:t>
            </a:r>
            <a:r>
              <a:rPr sz="1450" b="0" i="0">
                <a:solidFill>
                  <a:srgbClr val="1A2233"/>
                </a:solidFill>
                <a:latin typeface="Arial"/>
              </a:rPr>
              <a:t>  — one take at a time.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731520"/>
            <a:ext cx="10972800" cy="548640"/>
          </a:xfrm>
          <a:prstGeom prst="rect">
            <a:avLst/>
          </a:prstGeom>
          <a:noFill/>
        </p:spPr>
        <p:txBody>
          <a:bodyPr wrap="square" lIns="0" rIns="0" tIns="0" bIns="0">
            <a:spAutoFit/>
          </a:bodyPr>
          <a:lstStyle/>
          <a:p>
            <a:r>
              <a:rPr sz="3000" b="1" i="0">
                <a:solidFill>
                  <a:srgbClr val="1A2233"/>
                </a:solidFill>
                <a:latin typeface="Arial"/>
              </a:rPr>
              <a:t>Where the method now stands</a:t>
            </a:r>
          </a:p>
        </p:txBody>
      </p:sp>
      <p:sp>
        <p:nvSpPr>
          <p:cNvPr id="3" name="TextBox 2"/>
          <p:cNvSpPr txBox="1"/>
          <p:nvPr/>
        </p:nvSpPr>
        <p:spPr>
          <a:xfrm>
            <a:off x="640080" y="1920240"/>
            <a:ext cx="10972800" cy="3840480"/>
          </a:xfrm>
          <a:prstGeom prst="rect">
            <a:avLst/>
          </a:prstGeom>
          <a:noFill/>
        </p:spPr>
        <p:txBody>
          <a:bodyPr wrap="square" lIns="0" rIns="0" tIns="0" bIns="0">
            <a:spAutoFit/>
          </a:bodyPr>
          <a:lstStyle/>
          <a:p>
            <a:pPr>
              <a:lnSpc>
                <a:spcPct val="115000"/>
              </a:lnSpc>
              <a:spcAft>
                <a:spcPts val="900"/>
              </a:spcAft>
            </a:pPr>
            <a:r>
              <a:rPr sz="1500" b="1" i="0">
                <a:solidFill>
                  <a:srgbClr val="1A2233"/>
                </a:solidFill>
                <a:latin typeface="Arial"/>
              </a:rPr>
              <a:t>Azimuth is solid.</a:t>
            </a:r>
            <a:r>
              <a:rPr sz="1500" b="0" i="0">
                <a:solidFill>
                  <a:srgbClr val="1A2233"/>
                </a:solidFill>
                <a:latin typeface="Arial"/>
              </a:rPr>
              <a:t>  Inside 4.4° on every take, on both rig arrangements, including the two that failed on distance.</a:t>
            </a:r>
          </a:p>
          <a:p>
            <a:pPr>
              <a:lnSpc>
                <a:spcPct val="115000"/>
              </a:lnSpc>
              <a:spcAft>
                <a:spcPts val="900"/>
              </a:spcAft>
            </a:pPr>
            <a:r>
              <a:rPr sz="1500" b="1" i="0">
                <a:solidFill>
                  <a:srgbClr val="1A2233"/>
                </a:solidFill>
                <a:latin typeface="Arial"/>
              </a:rPr>
              <a:t>Elevation works on the Zylia</a:t>
            </a:r>
            <a:r>
              <a:rPr sz="1500" b="0" i="0">
                <a:solidFill>
                  <a:srgbClr val="1A2233"/>
                </a:solidFill>
                <a:latin typeface="Arial"/>
              </a:rPr>
              <a:t>  and not on the Zoom. +15.6° recovered against roughly +16° measured three independent ways.</a:t>
            </a:r>
          </a:p>
          <a:p>
            <a:pPr>
              <a:lnSpc>
                <a:spcPct val="115000"/>
              </a:lnSpc>
              <a:spcAft>
                <a:spcPts val="900"/>
              </a:spcAft>
            </a:pPr>
            <a:r>
              <a:rPr sz="1500" b="1" i="0">
                <a:solidFill>
                  <a:srgbClr val="1A2233"/>
                </a:solidFill>
                <a:latin typeface="Arial"/>
              </a:rPr>
              <a:t>Distance works to 3-6%</a:t>
            </a:r>
            <a:r>
              <a:rPr sz="1500" b="0" i="0">
                <a:solidFill>
                  <a:srgbClr val="1A2233"/>
                </a:solidFill>
                <a:latin typeface="Arial"/>
              </a:rPr>
              <a:t>  when the relative rotation of the two mics is known, and fails completely when it is not. There is no middle ground and no way to recover it after the fact.</a:t>
            </a:r>
          </a:p>
          <a:p>
            <a:pPr>
              <a:lnSpc>
                <a:spcPct val="115000"/>
              </a:lnSpc>
              <a:spcAft>
                <a:spcPts val="900"/>
              </a:spcAft>
            </a:pPr>
            <a:r>
              <a:rPr sz="1500" b="0" i="0">
                <a:solidFill>
                  <a:srgbClr val="1A2233"/>
                </a:solidFill>
                <a:latin typeface="Arial"/>
              </a:rPr>
              <a:t/>
            </a:r>
          </a:p>
          <a:p>
            <a:pPr>
              <a:lnSpc>
                <a:spcPct val="115000"/>
              </a:lnSpc>
              <a:spcAft>
                <a:spcPts val="900"/>
              </a:spcAft>
            </a:pPr>
            <a:r>
              <a:rPr sz="1500" b="1" i="0">
                <a:solidFill>
                  <a:srgbClr val="1A2233"/>
                </a:solidFill>
                <a:latin typeface="Arial"/>
              </a:rPr>
              <a:t>The two “impossible” takes were not impossible.</a:t>
            </a:r>
            <a:r>
              <a:rPr sz="1500" b="0" i="0">
                <a:solidFill>
                  <a:srgbClr val="1A2233"/>
                </a:solidFill>
                <a:latin typeface="Arial"/>
              </a:rPr>
              <a:t>  Both were recorded broadside, on a sound rig, with usable bearings. One missing measurement — the twist — was the whole difference.</a:t>
            </a:r>
          </a:p>
          <a:p>
            <a:pPr>
              <a:lnSpc>
                <a:spcPct val="115000"/>
              </a:lnSpc>
              <a:spcAft>
                <a:spcPts val="900"/>
              </a:spcAft>
            </a:pPr>
            <a:r>
              <a:rPr sz="1500" b="0" i="0">
                <a:solidFill>
                  <a:srgbClr val="1A2233"/>
                </a:solidFill>
                <a:latin typeface="Arial"/>
              </a:rPr>
              <a:t/>
            </a:r>
          </a:p>
          <a:p>
            <a:pPr>
              <a:lnSpc>
                <a:spcPct val="115000"/>
              </a:lnSpc>
              <a:spcAft>
                <a:spcPts val="900"/>
              </a:spcAft>
            </a:pPr>
            <a:r>
              <a:rPr sz="1500" b="1" i="0">
                <a:solidFill>
                  <a:srgbClr val="1A2233"/>
                </a:solidFill>
                <a:latin typeface="Arial"/>
              </a:rPr>
              <a:t>Two microphones have one blind axis</a:t>
            </a:r>
            <a:r>
              <a:rPr sz="1500" b="0" i="0">
                <a:solidFill>
                  <a:srgbClr val="1A2233"/>
                </a:solidFill>
                <a:latin typeface="Arial"/>
              </a:rPr>
              <a:t>  and you choose where to point it. Covering front AND side at once needs a third microphone off the line.</a:t>
            </a:r>
          </a:p>
        </p:txBody>
      </p:sp>
      <p:sp>
        <p:nvSpPr>
          <p:cNvPr id="4" name="TextBox 3"/>
          <p:cNvSpPr txBox="1"/>
          <p:nvPr/>
        </p:nvSpPr>
        <p:spPr>
          <a:xfrm>
            <a:off x="640080" y="6035040"/>
            <a:ext cx="10881360" cy="228600"/>
          </a:xfrm>
          <a:prstGeom prst="rect">
            <a:avLst/>
          </a:prstGeom>
          <a:noFill/>
        </p:spPr>
        <p:txBody>
          <a:bodyPr wrap="square" lIns="0" rIns="0" tIns="0" bIns="0">
            <a:spAutoFit/>
          </a:bodyPr>
          <a:lstStyle/>
          <a:p>
            <a:r>
              <a:rPr sz="1200" b="0" i="0">
                <a:solidFill>
                  <a:srgbClr val="5B6472"/>
                </a:solidFill>
                <a:latin typeface="Arial"/>
              </a:rPr>
              <a:t>Still open: the 11 August front take reads +85% and passes every guard; elevation ground truth is inferred from audio, not measured.</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