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5c7a13ff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g3f5c7a13ffb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f5d3cffb15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g3f5d3cffb15_1_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f5c3884faa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f5c3884fa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f97291672e_0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f97291672e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9.png"/><Relationship Id="rId5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Relationship Id="rId4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764310" y="1889850"/>
            <a:ext cx="10515600" cy="11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</a:rPr>
              <a:t>Estimating the Direction of a Sound Source</a:t>
            </a:r>
            <a:r>
              <a:rPr lang="en-US" sz="3600">
                <a:solidFill>
                  <a:schemeClr val="dk1"/>
                </a:solidFill>
              </a:rPr>
              <a:t> </a:t>
            </a:r>
            <a:r>
              <a:rPr b="1" i="0" lang="en-US" sz="3600" u="none" cap="none" strike="noStrike">
                <a:solidFill>
                  <a:schemeClr val="dk1"/>
                </a:solidFill>
              </a:rPr>
              <a:t>from Ambisonic Microphone Recordings</a:t>
            </a:r>
            <a:endParaRPr sz="3600">
              <a:solidFill>
                <a:schemeClr val="dk1"/>
              </a:solidFill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822950" y="3582955"/>
            <a:ext cx="10398300" cy="6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 u="none" cap="none" strike="noStrike">
                <a:solidFill>
                  <a:srgbClr val="434343"/>
                </a:solidFill>
              </a:rPr>
              <a:t>Progress Presentation</a:t>
            </a:r>
            <a:endParaRPr sz="1800">
              <a:solidFill>
                <a:srgbClr val="434343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i="0" lang="en-US" sz="1800" u="none" cap="none" strike="noStrike">
                <a:solidFill>
                  <a:srgbClr val="434343"/>
                </a:solidFill>
              </a:rPr>
              <a:t>Steven</a:t>
            </a:r>
            <a:r>
              <a:rPr lang="en-US" sz="1800">
                <a:solidFill>
                  <a:srgbClr val="434343"/>
                </a:solidFill>
              </a:rPr>
              <a:t> Ha 夏國保</a:t>
            </a:r>
            <a:endParaRPr sz="180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/>
          <p:nvPr/>
        </p:nvSpPr>
        <p:spPr>
          <a:xfrm>
            <a:off x="682680" y="965068"/>
            <a:ext cx="1097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A2233"/>
                </a:solidFill>
              </a:rPr>
              <a:t>What this project does</a:t>
            </a:r>
            <a:endParaRPr/>
          </a:p>
        </p:txBody>
      </p:sp>
      <p:sp>
        <p:nvSpPr>
          <p:cNvPr id="91" name="Google Shape;91;p14"/>
          <p:cNvSpPr txBox="1"/>
          <p:nvPr/>
        </p:nvSpPr>
        <p:spPr>
          <a:xfrm>
            <a:off x="682675" y="2006850"/>
            <a:ext cx="8655900" cy="34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A2233"/>
                </a:solidFill>
              </a:rPr>
              <a:t>Goal:  </a:t>
            </a:r>
            <a:r>
              <a:rPr i="0" lang="en-US" sz="1800" u="none" cap="none" strike="noStrike">
                <a:solidFill>
                  <a:srgbClr val="1A2233"/>
                </a:solidFill>
              </a:rPr>
              <a:t>given a sound recorded by a spherical "ambisonic" microphone, automatically estimate where the sound came from</a:t>
            </a:r>
            <a:endParaRPr sz="1800"/>
          </a:p>
          <a:p>
            <a:pPr indent="0" lvl="0" marL="0" marR="0" rtl="0" algn="just">
              <a:lnSpc>
                <a:spcPct val="108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A2233"/>
                </a:solidFill>
              </a:rPr>
              <a:t>One microphone, not an array.  </a:t>
            </a:r>
            <a:r>
              <a:rPr i="0" lang="en-US" sz="1800" u="none" cap="none" strike="noStrike">
                <a:solidFill>
                  <a:srgbClr val="1A2233"/>
                </a:solidFill>
              </a:rPr>
              <a:t>A single ambisonic mic captures a full-sphere sound field in a handful of channels, so one device replaces a spread-out array of mics</a:t>
            </a:r>
            <a:endParaRPr sz="1800"/>
          </a:p>
          <a:p>
            <a:pPr indent="0" lvl="0" marL="0" marR="0" rtl="0" algn="just">
              <a:lnSpc>
                <a:spcPct val="108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A2233"/>
                </a:solidFill>
              </a:rPr>
              <a:t>How:  </a:t>
            </a:r>
            <a:r>
              <a:rPr i="0" lang="en-US" sz="1800" u="none" cap="none" strike="noStrike">
                <a:solidFill>
                  <a:srgbClr val="1A2233"/>
                </a:solidFill>
              </a:rPr>
              <a:t>scan every candidate direction on a grid, synthesise what the mic “sho</a:t>
            </a:r>
            <a:r>
              <a:rPr i="0" lang="en-US" sz="1800" u="none" cap="none" strike="noStrike">
                <a:solidFill>
                  <a:srgbClr val="1A2233"/>
                </a:solidFill>
              </a:rPr>
              <a:t>uld” hear from that direction, and keep the direction whose prediction best matches the real recording (Steered-Response Power)</a:t>
            </a:r>
            <a:endParaRPr sz="1800"/>
          </a:p>
          <a:p>
            <a:pPr indent="0" lvl="0" marL="0" marR="0" rtl="0" algn="just">
              <a:lnSpc>
                <a:spcPct val="108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A2233"/>
                </a:solidFill>
              </a:rPr>
              <a:t>Two microphones tested:  </a:t>
            </a:r>
            <a:r>
              <a:rPr i="0" lang="en-US" sz="1800" u="none" cap="none" strike="noStrike">
                <a:solidFill>
                  <a:srgbClr val="1A2233"/>
                </a:solidFill>
              </a:rPr>
              <a:t>Zoom H3-VR (1st-order, 4-ch) and Zylia ZM-1 (3rd-order, 16-ch)</a:t>
            </a:r>
            <a:endParaRPr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/>
          <p:nvPr/>
        </p:nvSpPr>
        <p:spPr>
          <a:xfrm>
            <a:off x="640080" y="658368"/>
            <a:ext cx="10972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A2233"/>
                </a:solidFill>
              </a:rPr>
              <a:t>S</a:t>
            </a:r>
            <a:r>
              <a:rPr b="1" i="0" lang="en-US" sz="3200" u="none" cap="none" strike="noStrike">
                <a:solidFill>
                  <a:srgbClr val="1A2233"/>
                </a:solidFill>
              </a:rPr>
              <a:t>pherical-audio toolboxes</a:t>
            </a:r>
            <a:endParaRPr sz="1600"/>
          </a:p>
        </p:txBody>
      </p:sp>
      <p:sp>
        <p:nvSpPr>
          <p:cNvPr id="97" name="Google Shape;97;p15"/>
          <p:cNvSpPr txBox="1"/>
          <p:nvPr/>
        </p:nvSpPr>
        <p:spPr>
          <a:xfrm>
            <a:off x="640080" y="1554480"/>
            <a:ext cx="10972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 u="none" cap="none" strike="noStrike">
                <a:solidFill>
                  <a:srgbClr val="1A2233"/>
                </a:solidFill>
              </a:rPr>
              <a:t>These are open-source MATLAB files (github.com/polarch) t</a:t>
            </a:r>
            <a:r>
              <a:rPr lang="en-US" sz="1800">
                <a:solidFill>
                  <a:srgbClr val="1A2233"/>
                </a:solidFill>
              </a:rPr>
              <a:t>hat I took inspiration from for this project</a:t>
            </a:r>
            <a:r>
              <a:rPr i="0" lang="en-US" sz="1800" u="none" cap="none" strike="noStrike">
                <a:solidFill>
                  <a:srgbClr val="1A2233"/>
                </a:solidFill>
              </a:rPr>
              <a:t>:</a:t>
            </a:r>
            <a:endParaRPr sz="1700"/>
          </a:p>
        </p:txBody>
      </p:sp>
      <p:sp>
        <p:nvSpPr>
          <p:cNvPr id="98" name="Google Shape;98;p15"/>
          <p:cNvSpPr txBox="1"/>
          <p:nvPr/>
        </p:nvSpPr>
        <p:spPr>
          <a:xfrm>
            <a:off x="868680" y="2221992"/>
            <a:ext cx="3017400" cy="5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50" u="none" cap="none" strike="noStrike">
                <a:solidFill>
                  <a:srgbClr val="1A2233"/>
                </a:solidFill>
              </a:rPr>
              <a:t>getSH.m</a:t>
            </a:r>
            <a:endParaRPr sz="1700"/>
          </a:p>
          <a:p>
            <a:pPr indent="0" lvl="0" marL="0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i="1" lang="en-US" u="none" cap="none" strike="noStrike">
                <a:solidFill>
                  <a:srgbClr val="5B6472"/>
                </a:solidFill>
              </a:rPr>
              <a:t>Spherical-Harmonic-Transform</a:t>
            </a:r>
            <a:endParaRPr sz="1700"/>
          </a:p>
        </p:txBody>
      </p:sp>
      <p:sp>
        <p:nvSpPr>
          <p:cNvPr id="99" name="Google Shape;99;p15"/>
          <p:cNvSpPr txBox="1"/>
          <p:nvPr/>
        </p:nvSpPr>
        <p:spPr>
          <a:xfrm>
            <a:off x="3977639" y="2221992"/>
            <a:ext cx="7680900" cy="5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650" u="none" cap="none" strike="noStrike">
                <a:solidFill>
                  <a:srgbClr val="1A2233"/>
                </a:solidFill>
              </a:rPr>
              <a:t>How to evaluate real spherical harmonics on a set of directions</a:t>
            </a:r>
            <a:r>
              <a:rPr lang="en-US" sz="1650">
                <a:solidFill>
                  <a:srgbClr val="1A2233"/>
                </a:solidFill>
              </a:rPr>
              <a:t>, </a:t>
            </a:r>
            <a:r>
              <a:rPr i="0" lang="en-US" sz="1650" u="none" cap="none" strike="noStrike">
                <a:solidFill>
                  <a:srgbClr val="1A2233"/>
                </a:solidFill>
              </a:rPr>
              <a:t>the reference for my real_sh_matrix.m (N3D, ACN ordering, Condon–Shortley phase)</a:t>
            </a:r>
            <a:endParaRPr sz="1700"/>
          </a:p>
        </p:txBody>
      </p:sp>
      <p:sp>
        <p:nvSpPr>
          <p:cNvPr id="100" name="Google Shape;100;p15"/>
          <p:cNvSpPr txBox="1"/>
          <p:nvPr/>
        </p:nvSpPr>
        <p:spPr>
          <a:xfrm>
            <a:off x="868680" y="3044952"/>
            <a:ext cx="3017400" cy="5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50" u="none" cap="none" strike="noStrike">
                <a:solidFill>
                  <a:srgbClr val="1A2233"/>
                </a:solidFill>
              </a:rPr>
              <a:t>grid2dirs.m</a:t>
            </a:r>
            <a:endParaRPr sz="1700"/>
          </a:p>
          <a:p>
            <a:pPr indent="0" lvl="0" marL="0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i="1" lang="en-US" u="none" cap="none" strike="noStrike">
                <a:solidFill>
                  <a:srgbClr val="5B6472"/>
                </a:solidFill>
              </a:rPr>
              <a:t>Spherical-Harmonic-Transform</a:t>
            </a:r>
            <a:endParaRPr sz="1700"/>
          </a:p>
        </p:txBody>
      </p:sp>
      <p:sp>
        <p:nvSpPr>
          <p:cNvPr id="101" name="Google Shape;101;p15"/>
          <p:cNvSpPr txBox="1"/>
          <p:nvPr/>
        </p:nvSpPr>
        <p:spPr>
          <a:xfrm>
            <a:off x="3977639" y="3044952"/>
            <a:ext cx="7680900" cy="5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650" u="none" cap="none" strike="noStrike">
                <a:solidFill>
                  <a:srgbClr val="1A2233"/>
                </a:solidFill>
              </a:rPr>
              <a:t>How to lay out a regular azimuth/elevation grid of directions</a:t>
            </a:r>
            <a:r>
              <a:rPr lang="en-US" sz="1650">
                <a:solidFill>
                  <a:srgbClr val="1A2233"/>
                </a:solidFill>
              </a:rPr>
              <a:t>, </a:t>
            </a:r>
            <a:r>
              <a:rPr i="0" lang="en-US" sz="1650" u="none" cap="none" strike="noStrike">
                <a:solidFill>
                  <a:srgbClr val="1A2233"/>
                </a:solidFill>
              </a:rPr>
              <a:t>the idea behind my candidate grid in build_steering_matrix.m</a:t>
            </a:r>
            <a:endParaRPr sz="1700"/>
          </a:p>
        </p:txBody>
      </p:sp>
      <p:sp>
        <p:nvSpPr>
          <p:cNvPr id="102" name="Google Shape;102;p15"/>
          <p:cNvSpPr txBox="1"/>
          <p:nvPr/>
        </p:nvSpPr>
        <p:spPr>
          <a:xfrm>
            <a:off x="868680" y="3867912"/>
            <a:ext cx="3017400" cy="5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50" u="none" cap="none" strike="noStrike">
                <a:solidFill>
                  <a:srgbClr val="1A2233"/>
                </a:solidFill>
              </a:rPr>
              <a:t>sphMUSIC.m</a:t>
            </a:r>
            <a:endParaRPr sz="1700"/>
          </a:p>
          <a:p>
            <a:pPr indent="0" lvl="0" marL="0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i="1" lang="en-US" u="none" cap="none" strike="noStrike">
                <a:solidFill>
                  <a:srgbClr val="5B6472"/>
                </a:solidFill>
              </a:rPr>
              <a:t>Spherical-Array-Processing</a:t>
            </a:r>
            <a:endParaRPr sz="1700"/>
          </a:p>
        </p:txBody>
      </p:sp>
      <p:sp>
        <p:nvSpPr>
          <p:cNvPr id="103" name="Google Shape;103;p15"/>
          <p:cNvSpPr txBox="1"/>
          <p:nvPr/>
        </p:nvSpPr>
        <p:spPr>
          <a:xfrm>
            <a:off x="3977639" y="3867912"/>
            <a:ext cx="7680900" cy="5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650" u="none" cap="none" strike="noStrike">
                <a:solidFill>
                  <a:srgbClr val="1A2233"/>
                </a:solidFill>
              </a:rPr>
              <a:t>Steering the array over a direction grid and scoring each direction</a:t>
            </a:r>
            <a:r>
              <a:rPr lang="en-US" sz="1650">
                <a:solidFill>
                  <a:srgbClr val="1A2233"/>
                </a:solidFill>
              </a:rPr>
              <a:t>,</a:t>
            </a:r>
            <a:r>
              <a:rPr i="0" lang="en-US" sz="1650" u="none" cap="none" strike="noStrike">
                <a:solidFill>
                  <a:srgbClr val="1A2233"/>
                </a:solidFill>
              </a:rPr>
              <a:t> the concept of my SRP loop in run_doa.m</a:t>
            </a:r>
            <a:endParaRPr sz="1700"/>
          </a:p>
        </p:txBody>
      </p:sp>
      <p:sp>
        <p:nvSpPr>
          <p:cNvPr id="104" name="Google Shape;104;p15"/>
          <p:cNvSpPr txBox="1"/>
          <p:nvPr/>
        </p:nvSpPr>
        <p:spPr>
          <a:xfrm>
            <a:off x="868680" y="4690872"/>
            <a:ext cx="3017400" cy="7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50" u="none" cap="none" strike="noStrike">
                <a:solidFill>
                  <a:srgbClr val="1A2233"/>
                </a:solidFill>
              </a:rPr>
              <a:t>sphMVDR.m /</a:t>
            </a:r>
            <a:r>
              <a:rPr b="1" lang="en-US" sz="1750">
                <a:solidFill>
                  <a:srgbClr val="1A2233"/>
                </a:solidFill>
              </a:rPr>
              <a:t> </a:t>
            </a:r>
            <a:r>
              <a:rPr b="1" i="0" lang="en-US" sz="1750" u="none" cap="none" strike="noStrike">
                <a:solidFill>
                  <a:srgbClr val="1A2233"/>
                </a:solidFill>
              </a:rPr>
              <a:t>sphNullformer_pwd.m</a:t>
            </a:r>
            <a:endParaRPr sz="1700"/>
          </a:p>
          <a:p>
            <a:pPr indent="0" lvl="0" marL="0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i="1" lang="en-US" u="none" cap="none" strike="noStrike">
                <a:solidFill>
                  <a:srgbClr val="5B6472"/>
                </a:solidFill>
              </a:rPr>
              <a:t>Spherical-Array-Processing</a:t>
            </a:r>
            <a:endParaRPr sz="1700"/>
          </a:p>
        </p:txBody>
      </p:sp>
      <p:sp>
        <p:nvSpPr>
          <p:cNvPr id="105" name="Google Shape;105;p15"/>
          <p:cNvSpPr txBox="1"/>
          <p:nvPr/>
        </p:nvSpPr>
        <p:spPr>
          <a:xfrm>
            <a:off x="3977639" y="4690872"/>
            <a:ext cx="7680900" cy="5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650" u="none" cap="none" strike="noStrike">
                <a:solidFill>
                  <a:srgbClr val="1A2233"/>
                </a:solidFill>
              </a:rPr>
              <a:t>Beamforming in the spherical-harmonic domain (W^H·x style scoring). Confirmed how to combine channels per direction and per frequency</a:t>
            </a:r>
            <a:endParaRPr sz="17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6"/>
          <p:cNvSpPr txBox="1"/>
          <p:nvPr/>
        </p:nvSpPr>
        <p:spPr>
          <a:xfrm>
            <a:off x="657130" y="1109893"/>
            <a:ext cx="1097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A2233"/>
                </a:solidFill>
              </a:rPr>
              <a:t>The pipeline</a:t>
            </a:r>
            <a:endParaRPr sz="3000"/>
          </a:p>
        </p:txBody>
      </p:sp>
      <p:sp>
        <p:nvSpPr>
          <p:cNvPr id="111" name="Google Shape;111;p16"/>
          <p:cNvSpPr/>
          <p:nvPr/>
        </p:nvSpPr>
        <p:spPr>
          <a:xfrm>
            <a:off x="657125" y="2326050"/>
            <a:ext cx="2556000" cy="882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0625">
            <a:solidFill>
              <a:srgbClr val="2F6D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450" lIns="92925" spcFirstLastPara="1" rIns="92925" wrap="square" tIns="464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2030" u="none" cap="none" strike="noStrike">
              <a:solidFill>
                <a:schemeClr val="dk1"/>
              </a:solidFill>
            </a:endParaRPr>
          </a:p>
        </p:txBody>
      </p:sp>
      <p:sp>
        <p:nvSpPr>
          <p:cNvPr id="112" name="Google Shape;112;p16"/>
          <p:cNvSpPr txBox="1"/>
          <p:nvPr/>
        </p:nvSpPr>
        <p:spPr>
          <a:xfrm>
            <a:off x="731483" y="2535897"/>
            <a:ext cx="2407200" cy="46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2" u="none" cap="none" strike="noStrike">
                <a:solidFill>
                  <a:srgbClr val="2F6DF0"/>
                </a:solidFill>
              </a:rPr>
              <a:t>main_doa_estimation</a:t>
            </a:r>
            <a:endParaRPr sz="1623"/>
          </a:p>
          <a:p>
            <a:pPr indent="0" lvl="0" marL="0" marR="0" rtl="0" algn="ctr">
              <a:lnSpc>
                <a:spcPct val="100000"/>
              </a:lnSpc>
              <a:spcBef>
                <a:spcPts val="203"/>
              </a:spcBef>
              <a:spcAft>
                <a:spcPts val="0"/>
              </a:spcAft>
              <a:buNone/>
            </a:pPr>
            <a:r>
              <a:rPr i="0" lang="en-US" sz="1267" u="none" cap="none" strike="noStrike">
                <a:solidFill>
                  <a:srgbClr val="5B6472"/>
                </a:solidFill>
              </a:rPr>
              <a:t>config + ground truth + plots</a:t>
            </a:r>
            <a:endParaRPr sz="1623"/>
          </a:p>
        </p:txBody>
      </p:sp>
      <p:sp>
        <p:nvSpPr>
          <p:cNvPr id="113" name="Google Shape;113;p16"/>
          <p:cNvSpPr/>
          <p:nvPr/>
        </p:nvSpPr>
        <p:spPr>
          <a:xfrm>
            <a:off x="3492017" y="2326050"/>
            <a:ext cx="2556000" cy="882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0625">
            <a:solidFill>
              <a:srgbClr val="2F6D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450" lIns="92925" spcFirstLastPara="1" rIns="92925" wrap="square" tIns="464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2030" u="none" cap="none" strike="noStrike">
              <a:solidFill>
                <a:schemeClr val="dk1"/>
              </a:solidFill>
            </a:endParaRPr>
          </a:p>
        </p:txBody>
      </p:sp>
      <p:sp>
        <p:nvSpPr>
          <p:cNvPr id="114" name="Google Shape;114;p16"/>
          <p:cNvSpPr txBox="1"/>
          <p:nvPr/>
        </p:nvSpPr>
        <p:spPr>
          <a:xfrm>
            <a:off x="3566374" y="2535897"/>
            <a:ext cx="2407200" cy="46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2" u="none" cap="none" strike="noStrike">
                <a:solidFill>
                  <a:srgbClr val="2F6DF0"/>
                </a:solidFill>
              </a:rPr>
              <a:t>run_doa</a:t>
            </a:r>
            <a:endParaRPr sz="1623"/>
          </a:p>
          <a:p>
            <a:pPr indent="0" lvl="0" marL="0" marR="0" rtl="0" algn="ctr">
              <a:lnSpc>
                <a:spcPct val="100000"/>
              </a:lnSpc>
              <a:spcBef>
                <a:spcPts val="203"/>
              </a:spcBef>
              <a:spcAft>
                <a:spcPts val="0"/>
              </a:spcAft>
              <a:buNone/>
            </a:pPr>
            <a:r>
              <a:rPr i="0" lang="en-US" sz="1267" u="none" cap="none" strike="noStrike">
                <a:solidFill>
                  <a:srgbClr val="5B6472"/>
                </a:solidFill>
              </a:rPr>
              <a:t>STFT · energy gate · SRP · peak</a:t>
            </a:r>
            <a:endParaRPr sz="1623"/>
          </a:p>
        </p:txBody>
      </p:sp>
      <p:sp>
        <p:nvSpPr>
          <p:cNvPr id="115" name="Google Shape;115;p16"/>
          <p:cNvSpPr/>
          <p:nvPr/>
        </p:nvSpPr>
        <p:spPr>
          <a:xfrm>
            <a:off x="6326908" y="2326050"/>
            <a:ext cx="2556000" cy="882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0625">
            <a:solidFill>
              <a:srgbClr val="2F6D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450" lIns="92925" spcFirstLastPara="1" rIns="92925" wrap="square" tIns="464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2030" u="none" cap="none" strike="noStrike">
              <a:solidFill>
                <a:schemeClr val="dk1"/>
              </a:solidFill>
            </a:endParaRPr>
          </a:p>
        </p:txBody>
      </p:sp>
      <p:sp>
        <p:nvSpPr>
          <p:cNvPr id="116" name="Google Shape;116;p16"/>
          <p:cNvSpPr txBox="1"/>
          <p:nvPr/>
        </p:nvSpPr>
        <p:spPr>
          <a:xfrm>
            <a:off x="6401254" y="2535997"/>
            <a:ext cx="2407200" cy="46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2" u="none" cap="none" strike="noStrike">
                <a:solidFill>
                  <a:srgbClr val="2F6DF0"/>
                </a:solidFill>
              </a:rPr>
              <a:t>build_steering_matrix</a:t>
            </a:r>
            <a:endParaRPr sz="1623"/>
          </a:p>
          <a:p>
            <a:pPr indent="0" lvl="0" marL="0" marR="0" rtl="0" algn="ctr">
              <a:lnSpc>
                <a:spcPct val="100000"/>
              </a:lnSpc>
              <a:spcBef>
                <a:spcPts val="203"/>
              </a:spcBef>
              <a:spcAft>
                <a:spcPts val="0"/>
              </a:spcAft>
              <a:buNone/>
            </a:pPr>
            <a:r>
              <a:rPr i="0" lang="en-US" sz="1267" u="none" cap="none" strike="noStrike">
                <a:solidFill>
                  <a:srgbClr val="5B6472"/>
                </a:solidFill>
              </a:rPr>
              <a:t>grid → steering templates</a:t>
            </a:r>
            <a:endParaRPr sz="1623"/>
          </a:p>
        </p:txBody>
      </p:sp>
      <p:sp>
        <p:nvSpPr>
          <p:cNvPr id="117" name="Google Shape;117;p16"/>
          <p:cNvSpPr/>
          <p:nvPr/>
        </p:nvSpPr>
        <p:spPr>
          <a:xfrm>
            <a:off x="9161800" y="2326050"/>
            <a:ext cx="2556000" cy="882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0625">
            <a:solidFill>
              <a:srgbClr val="1F9D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450" lIns="92925" spcFirstLastPara="1" rIns="92925" wrap="square" tIns="464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2030" u="none" cap="none" strike="noStrike">
              <a:solidFill>
                <a:schemeClr val="dk1"/>
              </a:solidFill>
            </a:endParaRPr>
          </a:p>
        </p:txBody>
      </p:sp>
      <p:sp>
        <p:nvSpPr>
          <p:cNvPr id="118" name="Google Shape;118;p16"/>
          <p:cNvSpPr txBox="1"/>
          <p:nvPr/>
        </p:nvSpPr>
        <p:spPr>
          <a:xfrm>
            <a:off x="9236158" y="2535997"/>
            <a:ext cx="2407200" cy="46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2" u="none" cap="none" strike="noStrike">
                <a:solidFill>
                  <a:srgbClr val="1F9D6B"/>
                </a:solidFill>
              </a:rPr>
              <a:t>real_sh_matrix</a:t>
            </a:r>
            <a:endParaRPr sz="1623">
              <a:solidFill>
                <a:srgbClr val="1F9D6B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203"/>
              </a:spcBef>
              <a:spcAft>
                <a:spcPts val="0"/>
              </a:spcAft>
              <a:buNone/>
            </a:pPr>
            <a:r>
              <a:rPr i="0" lang="en-US" sz="1267" u="none" cap="none" strike="noStrike">
                <a:solidFill>
                  <a:srgbClr val="5B6472"/>
                </a:solidFill>
              </a:rPr>
              <a:t>spherical-harmonic shapes</a:t>
            </a:r>
            <a:endParaRPr sz="1623"/>
          </a:p>
        </p:txBody>
      </p:sp>
      <p:sp>
        <p:nvSpPr>
          <p:cNvPr id="119" name="Google Shape;119;p16"/>
          <p:cNvSpPr/>
          <p:nvPr/>
        </p:nvSpPr>
        <p:spPr>
          <a:xfrm>
            <a:off x="3213175" y="2693190"/>
            <a:ext cx="278700" cy="148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B6472"/>
          </a:solidFill>
          <a:ln>
            <a:noFill/>
          </a:ln>
        </p:spPr>
        <p:txBody>
          <a:bodyPr anchorCtr="0" anchor="ctr" bIns="46450" lIns="92925" spcFirstLastPara="1" rIns="92925" wrap="square" tIns="464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2030" u="none" cap="none" strike="noStrike">
              <a:solidFill>
                <a:schemeClr val="dk1"/>
              </a:solidFill>
            </a:endParaRPr>
          </a:p>
        </p:txBody>
      </p:sp>
      <p:sp>
        <p:nvSpPr>
          <p:cNvPr id="120" name="Google Shape;120;p16"/>
          <p:cNvSpPr/>
          <p:nvPr/>
        </p:nvSpPr>
        <p:spPr>
          <a:xfrm>
            <a:off x="6048067" y="2693190"/>
            <a:ext cx="278700" cy="148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B6472"/>
          </a:solidFill>
          <a:ln>
            <a:noFill/>
          </a:ln>
        </p:spPr>
        <p:txBody>
          <a:bodyPr anchorCtr="0" anchor="ctr" bIns="46450" lIns="92925" spcFirstLastPara="1" rIns="92925" wrap="square" tIns="464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2030" u="none" cap="none" strike="noStrike">
              <a:solidFill>
                <a:schemeClr val="dk1"/>
              </a:solidFill>
            </a:endParaRPr>
          </a:p>
        </p:txBody>
      </p:sp>
      <p:sp>
        <p:nvSpPr>
          <p:cNvPr id="121" name="Google Shape;121;p16"/>
          <p:cNvSpPr/>
          <p:nvPr/>
        </p:nvSpPr>
        <p:spPr>
          <a:xfrm>
            <a:off x="8882958" y="2693190"/>
            <a:ext cx="278700" cy="148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B6472"/>
          </a:solidFill>
          <a:ln>
            <a:noFill/>
          </a:ln>
        </p:spPr>
        <p:txBody>
          <a:bodyPr anchorCtr="0" anchor="ctr" bIns="46450" lIns="92925" spcFirstLastPara="1" rIns="92925" wrap="square" tIns="464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2030" u="none" cap="none" strike="noStrike">
              <a:solidFill>
                <a:schemeClr val="dk1"/>
              </a:solidFill>
            </a:endParaRPr>
          </a:p>
        </p:txBody>
      </p:sp>
      <p:sp>
        <p:nvSpPr>
          <p:cNvPr id="122" name="Google Shape;122;p16"/>
          <p:cNvSpPr/>
          <p:nvPr/>
        </p:nvSpPr>
        <p:spPr>
          <a:xfrm>
            <a:off x="6326908" y="3720255"/>
            <a:ext cx="2556000" cy="882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0625">
            <a:solidFill>
              <a:srgbClr val="1F9D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450" lIns="92925" spcFirstLastPara="1" rIns="92925" wrap="square" tIns="464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2030" u="none" cap="none" strike="noStrike">
              <a:solidFill>
                <a:schemeClr val="dk1"/>
              </a:solidFill>
            </a:endParaRPr>
          </a:p>
        </p:txBody>
      </p:sp>
      <p:sp>
        <p:nvSpPr>
          <p:cNvPr id="123" name="Google Shape;123;p16"/>
          <p:cNvSpPr txBox="1"/>
          <p:nvPr/>
        </p:nvSpPr>
        <p:spPr>
          <a:xfrm>
            <a:off x="6401241" y="3930101"/>
            <a:ext cx="2407200" cy="46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2" u="none" cap="none" strike="noStrike">
                <a:solidFill>
                  <a:srgbClr val="1F9D6B"/>
                </a:solidFill>
              </a:rPr>
              <a:t>sph_hankel2</a:t>
            </a:r>
            <a:endParaRPr sz="1623"/>
          </a:p>
          <a:p>
            <a:pPr indent="0" lvl="0" marL="0" marR="0" rtl="0" algn="ctr">
              <a:lnSpc>
                <a:spcPct val="100000"/>
              </a:lnSpc>
              <a:spcBef>
                <a:spcPts val="203"/>
              </a:spcBef>
              <a:spcAft>
                <a:spcPts val="0"/>
              </a:spcAft>
              <a:buNone/>
            </a:pPr>
            <a:r>
              <a:rPr i="0" lang="en-US" sz="1267" u="none" cap="none" strike="noStrike">
                <a:solidFill>
                  <a:srgbClr val="5B6472"/>
                </a:solidFill>
              </a:rPr>
              <a:t>near-field radial term</a:t>
            </a:r>
            <a:endParaRPr sz="1623"/>
          </a:p>
        </p:txBody>
      </p:sp>
      <p:sp>
        <p:nvSpPr>
          <p:cNvPr id="124" name="Google Shape;124;p16"/>
          <p:cNvSpPr/>
          <p:nvPr/>
        </p:nvSpPr>
        <p:spPr>
          <a:xfrm>
            <a:off x="3491975" y="3720255"/>
            <a:ext cx="2556000" cy="882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0625">
            <a:solidFill>
              <a:srgbClr val="1F9D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450" lIns="92925" spcFirstLastPara="1" rIns="92925" wrap="square" tIns="464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2030" u="none" cap="none" strike="noStrike">
              <a:solidFill>
                <a:schemeClr val="dk1"/>
              </a:solidFill>
            </a:endParaRPr>
          </a:p>
        </p:txBody>
      </p:sp>
      <p:sp>
        <p:nvSpPr>
          <p:cNvPr id="125" name="Google Shape;125;p16"/>
          <p:cNvSpPr txBox="1"/>
          <p:nvPr/>
        </p:nvSpPr>
        <p:spPr>
          <a:xfrm>
            <a:off x="3566333" y="3930101"/>
            <a:ext cx="2407200" cy="46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2" u="none" cap="none" strike="noStrike">
                <a:solidFill>
                  <a:srgbClr val="1F9D6B"/>
                </a:solidFill>
              </a:rPr>
              <a:t>convert_to_acn_n3d</a:t>
            </a:r>
            <a:endParaRPr sz="1623"/>
          </a:p>
          <a:p>
            <a:pPr indent="0" lvl="0" marL="0" marR="0" rtl="0" algn="ctr">
              <a:lnSpc>
                <a:spcPct val="100000"/>
              </a:lnSpc>
              <a:spcBef>
                <a:spcPts val="203"/>
              </a:spcBef>
              <a:spcAft>
                <a:spcPts val="0"/>
              </a:spcAft>
              <a:buNone/>
            </a:pPr>
            <a:r>
              <a:rPr i="0" lang="en-US" sz="1267" u="none" cap="none" strike="noStrike">
                <a:solidFill>
                  <a:srgbClr val="5B6472"/>
                </a:solidFill>
              </a:rPr>
              <a:t>FuMa/SN3D → ACN/N3D</a:t>
            </a:r>
            <a:endParaRPr sz="1623"/>
          </a:p>
        </p:txBody>
      </p:sp>
      <p:sp>
        <p:nvSpPr>
          <p:cNvPr id="126" name="Google Shape;126;p16"/>
          <p:cNvSpPr/>
          <p:nvPr/>
        </p:nvSpPr>
        <p:spPr>
          <a:xfrm>
            <a:off x="7530575" y="3209046"/>
            <a:ext cx="148800" cy="5112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5B6472"/>
          </a:solidFill>
          <a:ln>
            <a:noFill/>
          </a:ln>
        </p:spPr>
        <p:txBody>
          <a:bodyPr anchorCtr="0" anchor="ctr" bIns="46450" lIns="92925" spcFirstLastPara="1" rIns="92925" wrap="square" tIns="464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2030" u="none" cap="none" strike="noStrike">
              <a:solidFill>
                <a:schemeClr val="dk1"/>
              </a:solidFill>
            </a:endParaRPr>
          </a:p>
        </p:txBody>
      </p:sp>
      <p:sp>
        <p:nvSpPr>
          <p:cNvPr id="127" name="Google Shape;127;p16"/>
          <p:cNvSpPr/>
          <p:nvPr/>
        </p:nvSpPr>
        <p:spPr>
          <a:xfrm>
            <a:off x="4695625" y="3208996"/>
            <a:ext cx="148800" cy="5112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5B6472"/>
          </a:solidFill>
          <a:ln>
            <a:noFill/>
          </a:ln>
        </p:spPr>
        <p:txBody>
          <a:bodyPr anchorCtr="0" anchor="ctr" bIns="46450" lIns="92925" spcFirstLastPara="1" rIns="92925" wrap="square" tIns="464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2030" u="none" cap="none" strike="noStrike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7"/>
          <p:cNvSpPr txBox="1"/>
          <p:nvPr/>
        </p:nvSpPr>
        <p:spPr>
          <a:xfrm>
            <a:off x="640068" y="879868"/>
            <a:ext cx="1097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A2233"/>
                </a:solidFill>
              </a:rPr>
              <a:t>main_doa_estimation.m</a:t>
            </a:r>
            <a:endParaRPr sz="3000"/>
          </a:p>
        </p:txBody>
      </p:sp>
      <p:sp>
        <p:nvSpPr>
          <p:cNvPr id="133" name="Google Shape;133;p17"/>
          <p:cNvSpPr txBox="1"/>
          <p:nvPr/>
        </p:nvSpPr>
        <p:spPr>
          <a:xfrm>
            <a:off x="640075" y="2103125"/>
            <a:ext cx="8275200" cy="24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A2233"/>
                </a:solidFill>
              </a:rPr>
              <a:t>Picks the mic:  </a:t>
            </a:r>
            <a:r>
              <a:rPr i="0" lang="en-US" sz="1700" u="none" cap="none" strike="noStrike">
                <a:solidFill>
                  <a:srgbClr val="1A2233"/>
                </a:solidFill>
              </a:rPr>
              <a:t>order = 1 (Zoom) or 3 (Zylia), and micRadius, which sets the physics</a:t>
            </a:r>
            <a:endParaRPr sz="1600"/>
          </a:p>
          <a:p>
            <a:pPr indent="0" lvl="0" marL="0" marR="0" rtl="0" algn="just">
              <a:lnSpc>
                <a:spcPct val="108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A2233"/>
                </a:solidFill>
              </a:rPr>
              <a:t>Sets the analysis band  </a:t>
            </a:r>
            <a:r>
              <a:rPr i="0" lang="en-US" sz="1700" u="none" cap="none" strike="noStrike">
                <a:solidFill>
                  <a:srgbClr val="1A2233"/>
                </a:solidFill>
              </a:rPr>
              <a:t>(fBand) and the search grid (azimuth 0</a:t>
            </a:r>
            <a:r>
              <a:rPr lang="en-US" sz="1700">
                <a:solidFill>
                  <a:srgbClr val="1A2233"/>
                </a:solidFill>
              </a:rPr>
              <a:t>-</a:t>
            </a:r>
            <a:r>
              <a:rPr i="0" lang="en-US" sz="1700" u="none" cap="none" strike="noStrike">
                <a:solidFill>
                  <a:srgbClr val="1A2233"/>
                </a:solidFill>
              </a:rPr>
              <a:t>355°, elevation ±40°, distance 0.5–3 m)</a:t>
            </a:r>
            <a:endParaRPr sz="1600"/>
          </a:p>
          <a:p>
            <a:pPr indent="0" lvl="0" marL="0" marR="0" rtl="0" algn="just">
              <a:lnSpc>
                <a:spcPct val="108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A2233"/>
                </a:solidFill>
              </a:rPr>
              <a:t>Defines ground truth  </a:t>
            </a:r>
            <a:r>
              <a:rPr i="0" lang="en-US" sz="1700" u="none" cap="none" strike="noStrike">
                <a:solidFill>
                  <a:srgbClr val="1A2233"/>
                </a:solidFill>
              </a:rPr>
              <a:t>(the measured true angle) so error can be computed</a:t>
            </a:r>
            <a:endParaRPr sz="1600"/>
          </a:p>
          <a:p>
            <a:pPr indent="0" lvl="0" marL="0" marR="0" rtl="0" algn="just">
              <a:lnSpc>
                <a:spcPct val="108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A2233"/>
                </a:solidFill>
              </a:rPr>
              <a:t>Calls  </a:t>
            </a:r>
            <a:r>
              <a:rPr i="0" lang="en-US" sz="1700" u="none" cap="none" strike="noStrike">
                <a:solidFill>
                  <a:schemeClr val="dk1"/>
                </a:solidFill>
              </a:rPr>
              <a:t>res = run_doa(cfg)</a:t>
            </a:r>
            <a:r>
              <a:rPr lang="en-US" sz="1700">
                <a:solidFill>
                  <a:srgbClr val="1A2233"/>
                </a:solidFill>
              </a:rPr>
              <a:t>,</a:t>
            </a:r>
            <a:r>
              <a:rPr i="0" lang="en-US" sz="1700" u="none" cap="none" strike="noStrike">
                <a:solidFill>
                  <a:srgbClr val="1A2233"/>
                </a:solidFill>
              </a:rPr>
              <a:t> everything else happens in there</a:t>
            </a:r>
            <a:endParaRPr sz="1600"/>
          </a:p>
          <a:p>
            <a:pPr indent="0" lvl="0" marL="0" marR="0" rtl="0" algn="just">
              <a:lnSpc>
                <a:spcPct val="108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A2233"/>
                </a:solidFill>
              </a:rPr>
              <a:t>Reports  </a:t>
            </a:r>
            <a:r>
              <a:rPr i="0" lang="en-US" sz="1700" u="none" cap="none" strike="noStrike">
                <a:solidFill>
                  <a:srgbClr val="1A2233"/>
                </a:solidFill>
              </a:rPr>
              <a:t>median estimate vs truth and RMSE, then draws the per-frame plots and the SRP map</a:t>
            </a:r>
            <a:endParaRPr sz="1600"/>
          </a:p>
        </p:txBody>
      </p:sp>
      <p:pic>
        <p:nvPicPr>
          <p:cNvPr id="134" name="Google Shape;13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075" y="5071000"/>
            <a:ext cx="9438350" cy="103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15200" y="2683718"/>
            <a:ext cx="2758300" cy="13093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32150" y="1044213"/>
            <a:ext cx="5236646" cy="4595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1025" y="1288325"/>
            <a:ext cx="6310726" cy="410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9"/>
          <p:cNvSpPr txBox="1"/>
          <p:nvPr/>
        </p:nvSpPr>
        <p:spPr>
          <a:xfrm>
            <a:off x="598918" y="852843"/>
            <a:ext cx="1097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A2233"/>
                </a:solidFill>
              </a:rPr>
              <a:t>run_doa.m</a:t>
            </a:r>
            <a:endParaRPr sz="3000"/>
          </a:p>
        </p:txBody>
      </p:sp>
      <p:sp>
        <p:nvSpPr>
          <p:cNvPr id="147" name="Google Shape;147;p19"/>
          <p:cNvSpPr txBox="1"/>
          <p:nvPr/>
        </p:nvSpPr>
        <p:spPr>
          <a:xfrm>
            <a:off x="598925" y="2144250"/>
            <a:ext cx="4147200" cy="26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A2233"/>
                </a:solidFill>
              </a:rPr>
              <a:t>Load &amp; convert:  </a:t>
            </a:r>
            <a:r>
              <a:rPr i="0" lang="en-US" sz="1500" u="none" cap="none" strike="noStrike">
                <a:solidFill>
                  <a:srgbClr val="1A2233"/>
                </a:solidFill>
              </a:rPr>
              <a:t>reads the .wav and calls convert_to_acn_n3d to get ACN/N3D signal</a:t>
            </a:r>
            <a:endParaRPr/>
          </a:p>
          <a:p>
            <a:pPr indent="0" lvl="0" marL="0" marR="0" rtl="0" algn="just">
              <a:lnSpc>
                <a:spcPct val="108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A2233"/>
                </a:solidFill>
              </a:rPr>
              <a:t>Frame the audio:  </a:t>
            </a:r>
            <a:r>
              <a:rPr i="0" lang="en-US" sz="1500" u="none" cap="none" strike="noStrike">
                <a:solidFill>
                  <a:srgbClr val="1A2233"/>
                </a:solidFill>
              </a:rPr>
              <a:t>1024-sample Hann windows, 50% overlap (~21 ms hops) → short-time FFT</a:t>
            </a:r>
            <a:endParaRPr/>
          </a:p>
          <a:p>
            <a:pPr indent="0" lvl="0" marL="0" marR="0" rtl="0" algn="just">
              <a:lnSpc>
                <a:spcPct val="108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A2233"/>
                </a:solidFill>
              </a:rPr>
              <a:t>Pick frequency bins  </a:t>
            </a:r>
            <a:r>
              <a:rPr i="0" lang="en-US" sz="1500" u="none" cap="none" strike="noStrike">
                <a:solidFill>
                  <a:srgbClr val="1A2233"/>
                </a:solidFill>
              </a:rPr>
              <a:t>inside the analysis band (up to 60 bins)</a:t>
            </a:r>
            <a:endParaRPr/>
          </a:p>
          <a:p>
            <a:pPr indent="0" lvl="0" marL="0" marR="0" rtl="0" algn="just">
              <a:lnSpc>
                <a:spcPct val="108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A2233"/>
                </a:solidFill>
              </a:rPr>
              <a:t>Energy gate:  </a:t>
            </a:r>
            <a:r>
              <a:rPr i="0" lang="en-US" sz="1500" u="none" cap="none" strike="noStrike">
                <a:solidFill>
                  <a:srgbClr val="1A2233"/>
                </a:solidFill>
              </a:rPr>
              <a:t>frames quieter than −9 dB below the loudest are skipped, so silence isn’t “localised”</a:t>
            </a:r>
            <a:endParaRPr/>
          </a:p>
        </p:txBody>
      </p:sp>
      <p:sp>
        <p:nvSpPr>
          <p:cNvPr id="148" name="Google Shape;148;p19"/>
          <p:cNvSpPr txBox="1"/>
          <p:nvPr/>
        </p:nvSpPr>
        <p:spPr>
          <a:xfrm>
            <a:off x="5475175" y="2204850"/>
            <a:ext cx="6301500" cy="24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A2233"/>
                </a:solidFill>
              </a:rPr>
              <a:t>SRP score:  </a:t>
            </a:r>
            <a:r>
              <a:rPr i="0" lang="en-US" sz="1500" u="none" cap="none" strike="noStrike">
                <a:solidFill>
                  <a:srgbClr val="1A2233"/>
                </a:solidFill>
              </a:rPr>
              <a:t>for each grid direction, project the frame onto its steering template and sum power over frequency:  </a:t>
            </a:r>
            <a:r>
              <a:rPr i="0" lang="en-US" sz="1500" u="none" cap="none" strike="noStrike">
                <a:solidFill>
                  <a:schemeClr val="dk1"/>
                </a:solidFill>
              </a:rPr>
              <a:t>P = Σ |Wᴴ·B|²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08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A2233"/>
                </a:solidFill>
              </a:rPr>
              <a:t>Reshape  </a:t>
            </a:r>
            <a:r>
              <a:rPr i="0" lang="en-US" sz="1500" u="none" cap="none" strike="noStrike">
                <a:solidFill>
                  <a:srgbClr val="1A2233"/>
                </a:solidFill>
              </a:rPr>
              <a:t>the score vector into a 3D azimuth×elevation×distance map and take its maximu</a:t>
            </a:r>
            <a:r>
              <a:rPr i="0" lang="en-US" sz="1500" u="none" cap="none" strike="noStrike">
                <a:solidFill>
                  <a:srgbClr val="1A2233"/>
                </a:solidFill>
              </a:rPr>
              <a:t>m</a:t>
            </a:r>
            <a:endParaRPr/>
          </a:p>
          <a:p>
            <a:pPr indent="0" lvl="0" marL="0" marR="0" rtl="0" algn="just">
              <a:lnSpc>
                <a:spcPct val="108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A2233"/>
                </a:solidFill>
              </a:rPr>
              <a:t>Parabolic interpolation:  </a:t>
            </a:r>
            <a:r>
              <a:rPr i="0" lang="en-US" sz="1500" u="none" cap="none" strike="noStrike">
                <a:solidFill>
                  <a:srgbClr val="1A2233"/>
                </a:solidFill>
              </a:rPr>
              <a:t>fit a parabola across the peak and its two neighbours → sub-grid resolution (finer than the 5° grid)</a:t>
            </a:r>
            <a:endParaRPr/>
          </a:p>
          <a:p>
            <a:pPr indent="0" lvl="0" marL="0" marR="0" rtl="0" algn="just">
              <a:lnSpc>
                <a:spcPct val="108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A2233"/>
                </a:solidFill>
              </a:rPr>
              <a:t>Keeps the strongest frame  </a:t>
            </a:r>
            <a:r>
              <a:rPr i="0" lang="en-US" sz="1500" u="none" cap="none" strike="noStrike">
                <a:solidFill>
                  <a:srgbClr val="1A2233"/>
                </a:solidFill>
              </a:rPr>
              <a:t>to display as the representative SRP map</a:t>
            </a:r>
            <a:endParaRPr/>
          </a:p>
          <a:p>
            <a:pPr indent="0" lvl="0" marL="0" marR="0" rtl="0" algn="just">
              <a:lnSpc>
                <a:spcPct val="108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A2233"/>
                </a:solidFill>
              </a:rPr>
              <a:t>Returns  </a:t>
            </a:r>
            <a:r>
              <a:rPr i="0" lang="en-US" sz="1500" u="none" cap="none" strike="noStrike">
                <a:solidFill>
                  <a:srgbClr val="1A2233"/>
                </a:solidFill>
              </a:rPr>
              <a:t>per-frame azimuth, elevation, and distance</a:t>
            </a:r>
            <a:endParaRPr/>
          </a:p>
        </p:txBody>
      </p:sp>
      <p:pic>
        <p:nvPicPr>
          <p:cNvPr id="149" name="Google Shape;14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99425" y="559825"/>
            <a:ext cx="2962275" cy="104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27125" y="678888"/>
            <a:ext cx="3514725" cy="80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94425" y="4956550"/>
            <a:ext cx="6772275" cy="125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0"/>
          <p:cNvSpPr txBox="1"/>
          <p:nvPr/>
        </p:nvSpPr>
        <p:spPr>
          <a:xfrm>
            <a:off x="648305" y="1324393"/>
            <a:ext cx="1097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A2233"/>
                </a:solidFill>
              </a:rPr>
              <a:t>convert_to_acn_n3d.m</a:t>
            </a:r>
            <a:endParaRPr sz="3000"/>
          </a:p>
        </p:txBody>
      </p:sp>
      <p:pic>
        <p:nvPicPr>
          <p:cNvPr id="157" name="Google Shape;15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96840" y="3009890"/>
            <a:ext cx="3524250" cy="8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0"/>
          <p:cNvSpPr txBox="1"/>
          <p:nvPr/>
        </p:nvSpPr>
        <p:spPr>
          <a:xfrm>
            <a:off x="648299" y="2563800"/>
            <a:ext cx="6795000" cy="17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A2233"/>
                </a:solidFill>
              </a:rPr>
              <a:t>AmbiX input  </a:t>
            </a:r>
            <a:r>
              <a:rPr i="0" lang="en-US" sz="1800" u="none" cap="none" strike="noStrike">
                <a:solidFill>
                  <a:srgbClr val="1A2233"/>
                </a:solidFill>
              </a:rPr>
              <a:t>is already ACN/SN3D → just rescale SN3D→N3D</a:t>
            </a:r>
            <a:endParaRPr sz="1800"/>
          </a:p>
          <a:p>
            <a:pPr indent="0" lvl="0" marL="0" marR="0" rtl="0" algn="just">
              <a:lnSpc>
                <a:spcPct val="108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A2233"/>
                </a:solidFill>
              </a:rPr>
              <a:t>FuMa input  </a:t>
            </a:r>
            <a:r>
              <a:rPr i="0" lang="en-US" sz="1800" u="none" cap="none" strike="noStrike">
                <a:solidFill>
                  <a:srgbClr val="1A2233"/>
                </a:solidFill>
              </a:rPr>
              <a:t>(old B-format) → reorders WXYZ and restores the </a:t>
            </a:r>
            <a:r>
              <a:rPr lang="en-US" sz="1800">
                <a:solidFill>
                  <a:srgbClr val="1A2233"/>
                </a:solidFill>
              </a:rPr>
              <a:t>-</a:t>
            </a:r>
            <a:r>
              <a:rPr i="0" lang="en-US" sz="1800" u="none" cap="none" strike="noStrike">
                <a:solidFill>
                  <a:srgbClr val="1A2233"/>
                </a:solidFill>
              </a:rPr>
              <a:t>3 dB on the W channel</a:t>
            </a:r>
            <a:endParaRPr sz="1800"/>
          </a:p>
          <a:p>
            <a:pPr indent="0" lvl="0" marL="0" marR="0" rtl="0" algn="just">
              <a:lnSpc>
                <a:spcPct val="108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A2233"/>
                </a:solidFill>
              </a:rPr>
              <a:t>SN3D → N3D:  </a:t>
            </a:r>
            <a:r>
              <a:rPr i="0" lang="en-US" sz="1800" u="none" cap="none" strike="noStrike">
                <a:solidFill>
                  <a:srgbClr val="1A2233"/>
                </a:solidFill>
              </a:rPr>
              <a:t>multiplies each order-n channel by √(2n+1)</a:t>
            </a:r>
            <a:r>
              <a:rPr lang="en-US" sz="1800">
                <a:solidFill>
                  <a:srgbClr val="1A2233"/>
                </a:solidFill>
              </a:rPr>
              <a:t>, </a:t>
            </a:r>
            <a:r>
              <a:rPr i="0" lang="en-US" sz="1800" u="none" cap="none" strike="noStrike">
                <a:solidFill>
                  <a:srgbClr val="1A2233"/>
                </a:solidFill>
              </a:rPr>
              <a:t>the scaling the steering matrix assumes</a:t>
            </a:r>
            <a:endParaRPr sz="1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1"/>
          <p:cNvSpPr txBox="1"/>
          <p:nvPr/>
        </p:nvSpPr>
        <p:spPr>
          <a:xfrm>
            <a:off x="640080" y="658368"/>
            <a:ext cx="1097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A2233"/>
                </a:solidFill>
              </a:rPr>
              <a:t>build_steering_matrix.m</a:t>
            </a:r>
            <a:endParaRPr sz="3000"/>
          </a:p>
        </p:txBody>
      </p:sp>
      <p:sp>
        <p:nvSpPr>
          <p:cNvPr id="164" name="Google Shape;164;p21"/>
          <p:cNvSpPr txBox="1"/>
          <p:nvPr/>
        </p:nvSpPr>
        <p:spPr>
          <a:xfrm>
            <a:off x="640080" y="1466645"/>
            <a:ext cx="10972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1A2233"/>
                </a:solidFill>
              </a:rPr>
              <a:t>Pre-computes the theoretical Ambisonic response for every candidate source position</a:t>
            </a:r>
            <a:endParaRPr/>
          </a:p>
        </p:txBody>
      </p:sp>
      <p:sp>
        <p:nvSpPr>
          <p:cNvPr id="165" name="Google Shape;165;p21"/>
          <p:cNvSpPr txBox="1"/>
          <p:nvPr/>
        </p:nvSpPr>
        <p:spPr>
          <a:xfrm>
            <a:off x="640080" y="2148840"/>
            <a:ext cx="5486400" cy="30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450">
                <a:solidFill>
                  <a:srgbClr val="1A2233"/>
                </a:solidFill>
              </a:rPr>
              <a:t>Generates </a:t>
            </a:r>
            <a:r>
              <a:rPr lang="en-US" sz="1450">
                <a:solidFill>
                  <a:srgbClr val="1A2233"/>
                </a:solidFill>
              </a:rPr>
              <a:t>a steering template for every azimuth, elevation and distance</a:t>
            </a:r>
            <a:endParaRPr/>
          </a:p>
          <a:p>
            <a:pPr indent="0" lvl="0" marL="0" marR="0" rtl="0" algn="just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450">
                <a:solidFill>
                  <a:srgbClr val="1A2233"/>
                </a:solidFill>
              </a:rPr>
              <a:t>For each grid direction  </a:t>
            </a:r>
            <a:r>
              <a:rPr lang="en-US" sz="1450">
                <a:solidFill>
                  <a:srgbClr val="1A2233"/>
                </a:solidFill>
              </a:rPr>
              <a:t>it multiplies the: angular information from </a:t>
            </a:r>
            <a:r>
              <a:rPr lang="en-US" sz="1450">
                <a:solidFill>
                  <a:srgbClr val="1A2233"/>
                </a:solidFill>
                <a:highlight>
                  <a:srgbClr val="FFF2CC"/>
                </a:highlight>
              </a:rPr>
              <a:t>(real_sh_matrix)</a:t>
            </a:r>
            <a:r>
              <a:rPr lang="en-US" sz="1450">
                <a:solidFill>
                  <a:srgbClr val="1A2233"/>
                </a:solidFill>
              </a:rPr>
              <a:t> by radial near-field correction from </a:t>
            </a:r>
            <a:r>
              <a:rPr lang="en-US" sz="1450">
                <a:solidFill>
                  <a:srgbClr val="1A2233"/>
                </a:solidFill>
                <a:highlight>
                  <a:srgbClr val="FFF2CC"/>
                </a:highlight>
              </a:rPr>
              <a:t>(sph_hankel2)</a:t>
            </a:r>
            <a:endParaRPr sz="1450">
              <a:solidFill>
                <a:srgbClr val="1A2233"/>
              </a:solidFill>
              <a:highlight>
                <a:srgbClr val="FFF2CC"/>
              </a:highlight>
            </a:endParaRPr>
          </a:p>
          <a:p>
            <a:pPr indent="0" lvl="0" marL="0" rtl="0" algn="just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450">
                <a:solidFill>
                  <a:srgbClr val="1A2233"/>
                </a:solidFill>
              </a:rPr>
              <a:t>Frequency-dependent order:  </a:t>
            </a:r>
            <a:r>
              <a:rPr lang="en-US" sz="1450">
                <a:solidFill>
                  <a:srgbClr val="1A2233"/>
                </a:solidFill>
              </a:rPr>
              <a:t>a small sphere only carries order-n info above a cut-on frequency  </a:t>
            </a:r>
            <a:r>
              <a:rPr lang="en-US" sz="1450">
                <a:solidFill>
                  <a:schemeClr val="dk1"/>
                </a:solidFill>
              </a:rPr>
              <a:t>fₙ = n·c / (2πR)</a:t>
            </a:r>
            <a:endParaRPr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450">
                <a:solidFill>
                  <a:srgbClr val="1A2233"/>
                </a:solidFill>
              </a:rPr>
              <a:t>Below that cut-on  </a:t>
            </a:r>
            <a:r>
              <a:rPr lang="en-US" sz="1450">
                <a:solidFill>
                  <a:srgbClr val="1A2233"/>
                </a:solidFill>
              </a:rPr>
              <a:t>an order’s channels are pure regularisation noise, so those bins fall back to a lower order</a:t>
            </a:r>
            <a:endParaRPr sz="1450">
              <a:solidFill>
                <a:srgbClr val="1A2233"/>
              </a:solidFill>
            </a:endParaRPr>
          </a:p>
          <a:p>
            <a:pPr indent="0" lvl="0" marL="0" rtl="0" algn="just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450">
                <a:solidFill>
                  <a:srgbClr val="1A2233"/>
                </a:solidFill>
              </a:rPr>
              <a:t>The graph</a:t>
            </a:r>
            <a:r>
              <a:rPr lang="en-US" sz="1450">
                <a:solidFill>
                  <a:srgbClr val="1A2233"/>
                </a:solidFill>
              </a:rPr>
              <a:t> shows which frequencies actually carry each ambisonic order's information for the Zylia, and why my original analysis band was in the wrong place</a:t>
            </a:r>
            <a:endParaRPr sz="1450">
              <a:solidFill>
                <a:srgbClr val="1A2233"/>
              </a:solidFill>
            </a:endParaRPr>
          </a:p>
        </p:txBody>
      </p:sp>
      <p:pic>
        <p:nvPicPr>
          <p:cNvPr descr="fig_cuton.png" id="166" name="Google Shape;16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55080" y="2103120"/>
            <a:ext cx="5394960" cy="31578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32125" y="5624879"/>
            <a:ext cx="4200525" cy="70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2"/>
          <p:cNvSpPr txBox="1"/>
          <p:nvPr/>
        </p:nvSpPr>
        <p:spPr>
          <a:xfrm>
            <a:off x="656530" y="946193"/>
            <a:ext cx="1097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A2233"/>
                </a:solidFill>
              </a:rPr>
              <a:t>real_sh_matrix.m (</a:t>
            </a:r>
            <a:r>
              <a:rPr b="1" lang="en-US" sz="3000">
                <a:solidFill>
                  <a:srgbClr val="1A2233"/>
                </a:solidFill>
              </a:rPr>
              <a:t>D</a:t>
            </a:r>
            <a:r>
              <a:rPr b="1" i="0" lang="en-US" sz="3000" u="none" cap="none" strike="noStrike">
                <a:solidFill>
                  <a:srgbClr val="1A2233"/>
                </a:solidFill>
              </a:rPr>
              <a:t>irection)</a:t>
            </a:r>
            <a:endParaRPr sz="3000"/>
          </a:p>
        </p:txBody>
      </p:sp>
      <p:sp>
        <p:nvSpPr>
          <p:cNvPr id="173" name="Google Shape;173;p22"/>
          <p:cNvSpPr txBox="1"/>
          <p:nvPr/>
        </p:nvSpPr>
        <p:spPr>
          <a:xfrm>
            <a:off x="656530" y="1810683"/>
            <a:ext cx="10972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A2233"/>
                </a:solidFill>
              </a:rPr>
              <a:t>Computes the real spherical harmonic basis functions that describe directional sensitivity</a:t>
            </a:r>
            <a:endParaRPr sz="1800"/>
          </a:p>
        </p:txBody>
      </p:sp>
      <p:sp>
        <p:nvSpPr>
          <p:cNvPr id="174" name="Google Shape;174;p22"/>
          <p:cNvSpPr txBox="1"/>
          <p:nvPr/>
        </p:nvSpPr>
        <p:spPr>
          <a:xfrm>
            <a:off x="656525" y="2436675"/>
            <a:ext cx="7608900" cy="34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i="0" lang="en-US" sz="1800" u="none" cap="none" strike="noStrike">
                <a:solidFill>
                  <a:srgbClr val="1A2233"/>
                </a:solidFill>
              </a:rPr>
              <a:t>Input:  </a:t>
            </a:r>
            <a:r>
              <a:rPr i="0" lang="en-US" sz="1800" u="none" cap="none" strike="noStrike">
                <a:solidFill>
                  <a:srgbClr val="1A2233"/>
                </a:solidFill>
              </a:rPr>
              <a:t>an order and a list of directions (azimuth, elevation)</a:t>
            </a:r>
            <a:endParaRPr sz="1800">
              <a:solidFill>
                <a:srgbClr val="1A2233"/>
              </a:solidFill>
            </a:endParaRPr>
          </a:p>
          <a:p>
            <a:pPr indent="0" lvl="0" marL="0" marR="0" rtl="0" algn="just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A2233"/>
                </a:solidFill>
              </a:rPr>
              <a:t>Output:  </a:t>
            </a:r>
            <a:r>
              <a:rPr i="0" lang="en-US" sz="1800" u="none" cap="none" strike="noStrike">
                <a:solidFill>
                  <a:srgbClr val="1A2233"/>
                </a:solidFill>
              </a:rPr>
              <a:t>a matrix of real </a:t>
            </a:r>
            <a:r>
              <a:rPr lang="en-US" sz="1800">
                <a:solidFill>
                  <a:srgbClr val="1A2233"/>
                </a:solidFill>
              </a:rPr>
              <a:t>spherical harmonic</a:t>
            </a:r>
            <a:r>
              <a:rPr i="0" lang="en-US" sz="1800" u="none" cap="none" strike="noStrike">
                <a:solidFill>
                  <a:srgbClr val="1A2233"/>
                </a:solidFill>
              </a:rPr>
              <a:t> values</a:t>
            </a:r>
            <a:r>
              <a:rPr lang="en-US" sz="1800">
                <a:solidFill>
                  <a:srgbClr val="1A2233"/>
                </a:solidFill>
              </a:rPr>
              <a:t>,</a:t>
            </a:r>
            <a:r>
              <a:rPr i="0" lang="en-US" sz="1800" u="none" cap="none" strike="noStrike">
                <a:solidFill>
                  <a:srgbClr val="1A2233"/>
                </a:solidFill>
              </a:rPr>
              <a:t> </a:t>
            </a:r>
            <a:r>
              <a:rPr i="0" lang="en-US" sz="1800" u="none" cap="none" strike="noStrike">
                <a:solidFill>
                  <a:srgbClr val="1A2233"/>
                </a:solidFill>
              </a:rPr>
              <a:t>one row per ambisonic channel, one column per direction</a:t>
            </a:r>
            <a:endParaRPr sz="1800"/>
          </a:p>
          <a:p>
            <a:pPr indent="0" lvl="0" marL="0" marR="0" rtl="0" algn="just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A2233"/>
                </a:solidFill>
              </a:rPr>
              <a:t>Uses  </a:t>
            </a:r>
            <a:r>
              <a:rPr i="0" lang="en-US" sz="1800" u="none" cap="none" strike="noStrike">
                <a:solidFill>
                  <a:srgbClr val="1A2233"/>
                </a:solidFill>
              </a:rPr>
              <a:t>MATLAB’s legendre() for the associated Legendre polynomials, then applies the N3D normalisation and sin/cos of azimuth</a:t>
            </a:r>
            <a:endParaRPr sz="1800"/>
          </a:p>
          <a:p>
            <a:pPr indent="0" lvl="0" marL="0" marR="0" rtl="0" algn="just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A2233"/>
                </a:solidFill>
              </a:rPr>
              <a:t>Handles conventions</a:t>
            </a:r>
            <a:r>
              <a:rPr b="1" lang="en-US" sz="1800">
                <a:solidFill>
                  <a:srgbClr val="1A2233"/>
                </a:solidFill>
              </a:rPr>
              <a:t> like </a:t>
            </a:r>
            <a:r>
              <a:rPr i="0" lang="en-US" sz="1800" u="none" cap="none" strike="noStrike">
                <a:solidFill>
                  <a:srgbClr val="1A2233"/>
                </a:solidFill>
              </a:rPr>
              <a:t>ACN channel ordering, N3D normalisation, and removes the Condon</a:t>
            </a:r>
            <a:r>
              <a:rPr lang="en-US" sz="1800">
                <a:solidFill>
                  <a:srgbClr val="1A2233"/>
                </a:solidFill>
              </a:rPr>
              <a:t>-</a:t>
            </a:r>
            <a:r>
              <a:rPr i="0" lang="en-US" sz="1800" u="none" cap="none" strike="noStrike">
                <a:solidFill>
                  <a:srgbClr val="1A2233"/>
                </a:solidFill>
              </a:rPr>
              <a:t>Shortley phase (to pre</a:t>
            </a:r>
            <a:r>
              <a:rPr lang="en-US" sz="1800">
                <a:solidFill>
                  <a:srgbClr val="1A2233"/>
                </a:solidFill>
              </a:rPr>
              <a:t>vent sign error)</a:t>
            </a:r>
            <a:endParaRPr i="0" sz="1800" u="none" cap="none" strike="noStrike">
              <a:solidFill>
                <a:srgbClr val="1A2233"/>
              </a:solidFill>
            </a:endParaRPr>
          </a:p>
          <a:p>
            <a:pPr indent="0" lvl="0" marL="0" marR="0" rtl="0" algn="just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-US" sz="1800">
                <a:solidFill>
                  <a:srgbClr val="1A2233"/>
                </a:solidFill>
              </a:rPr>
              <a:t>Spherical harmonics</a:t>
            </a:r>
            <a:r>
              <a:rPr lang="en-US" sz="1800">
                <a:solidFill>
                  <a:srgbClr val="1A2233"/>
                </a:solidFill>
              </a:rPr>
              <a:t> define the angular component of every steering vector, determining how the microphone responds to sounds arriving from different directions</a:t>
            </a:r>
            <a:endParaRPr sz="1800">
              <a:solidFill>
                <a:srgbClr val="1A2233"/>
              </a:solidFill>
            </a:endParaRPr>
          </a:p>
        </p:txBody>
      </p:sp>
      <p:pic>
        <p:nvPicPr>
          <p:cNvPr id="175" name="Google Shape;175;p22"/>
          <p:cNvPicPr preferRelativeResize="0"/>
          <p:nvPr/>
        </p:nvPicPr>
        <p:blipFill rotWithShape="1">
          <a:blip r:embed="rId3">
            <a:alphaModFix/>
          </a:blip>
          <a:srcRect b="0" l="27013" r="37946" t="0"/>
          <a:stretch/>
        </p:blipFill>
        <p:spPr>
          <a:xfrm>
            <a:off x="9079575" y="3800250"/>
            <a:ext cx="1471925" cy="70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3"/>
          <p:cNvSpPr txBox="1"/>
          <p:nvPr/>
        </p:nvSpPr>
        <p:spPr>
          <a:xfrm>
            <a:off x="640080" y="658368"/>
            <a:ext cx="1097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A2233"/>
                </a:solidFill>
              </a:rPr>
              <a:t>sph_hankel2.m (</a:t>
            </a:r>
            <a:r>
              <a:rPr b="1" lang="en-US" sz="3000">
                <a:solidFill>
                  <a:srgbClr val="1A2233"/>
                </a:solidFill>
              </a:rPr>
              <a:t>Distance)</a:t>
            </a:r>
            <a:endParaRPr sz="3000"/>
          </a:p>
        </p:txBody>
      </p:sp>
      <p:sp>
        <p:nvSpPr>
          <p:cNvPr id="181" name="Google Shape;181;p23"/>
          <p:cNvSpPr txBox="1"/>
          <p:nvPr/>
        </p:nvSpPr>
        <p:spPr>
          <a:xfrm>
            <a:off x="640080" y="1522858"/>
            <a:ext cx="10972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1A2233"/>
                </a:solidFill>
              </a:rPr>
              <a:t>Models spherical wave propagation for nearby sound sources</a:t>
            </a:r>
            <a:endParaRPr/>
          </a:p>
        </p:txBody>
      </p:sp>
      <p:sp>
        <p:nvSpPr>
          <p:cNvPr id="182" name="Google Shape;182;p23"/>
          <p:cNvSpPr txBox="1"/>
          <p:nvPr/>
        </p:nvSpPr>
        <p:spPr>
          <a:xfrm>
            <a:off x="640080" y="2148840"/>
            <a:ext cx="5486400" cy="30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1A2233"/>
                </a:solidFill>
              </a:rPr>
              <a:t>Computes  </a:t>
            </a:r>
            <a:r>
              <a:rPr i="0" lang="en-US" sz="1450" u="none" cap="none" strike="noStrike">
                <a:solidFill>
                  <a:srgbClr val="1A2233"/>
                </a:solidFill>
              </a:rPr>
              <a:t>the spherical Hankel function of the 2nd kind from standard Bessel functions</a:t>
            </a:r>
            <a:endParaRPr/>
          </a:p>
          <a:p>
            <a:pPr indent="0" lvl="0" marL="0" marR="0" rtl="0" algn="just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450">
                <a:solidFill>
                  <a:srgbClr val="1A2233"/>
                </a:solidFill>
              </a:rPr>
              <a:t>T</a:t>
            </a:r>
            <a:r>
              <a:rPr b="1" i="0" lang="en-US" sz="1450" u="none" cap="none" strike="noStrike">
                <a:solidFill>
                  <a:srgbClr val="1A2233"/>
                </a:solidFill>
              </a:rPr>
              <a:t>he ratio</a:t>
            </a:r>
            <a:r>
              <a:rPr i="0" lang="en-US" sz="1450" u="none" cap="none" strike="noStrike">
                <a:solidFill>
                  <a:srgbClr val="1A2233"/>
                </a:solidFill>
              </a:rPr>
              <a:t> hₙ(kr)/h₀(kr) </a:t>
            </a:r>
            <a:r>
              <a:rPr lang="en-US" sz="1450">
                <a:solidFill>
                  <a:srgbClr val="1A2233"/>
                </a:solidFill>
              </a:rPr>
              <a:t>produces the near-field radial correction used inside the steering matrix</a:t>
            </a:r>
            <a:endParaRPr/>
          </a:p>
          <a:p>
            <a:pPr indent="0" lvl="0" marL="0" marR="0" rtl="0" algn="just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1A2233"/>
                </a:solidFill>
              </a:rPr>
              <a:t>A</a:t>
            </a:r>
            <a:r>
              <a:rPr i="0" lang="en-US" sz="1450" u="none" cap="none" strike="noStrike">
                <a:solidFill>
                  <a:srgbClr val="1A2233"/>
                </a:solidFill>
              </a:rPr>
              <a:t> close source boosts the directional channels’ low end (curved wavefront); w</a:t>
            </a:r>
            <a:r>
              <a:rPr lang="en-US" sz="1450">
                <a:solidFill>
                  <a:srgbClr val="1A2233"/>
                </a:solidFill>
              </a:rPr>
              <a:t>hile, </a:t>
            </a:r>
            <a:r>
              <a:rPr i="0" lang="en-US" sz="1450" u="none" cap="none" strike="noStrike">
                <a:solidFill>
                  <a:srgbClr val="1A2233"/>
                </a:solidFill>
              </a:rPr>
              <a:t>a far source looks like a flat plane wave</a:t>
            </a:r>
            <a:endParaRPr/>
          </a:p>
          <a:p>
            <a:pPr indent="0" lvl="0" marL="0" marR="0" rtl="0" algn="just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1A2233"/>
                </a:solidFill>
              </a:rPr>
              <a:t>That difference  </a:t>
            </a:r>
            <a:r>
              <a:rPr i="0" lang="en-US" sz="1450" u="none" cap="none" strike="noStrike">
                <a:solidFill>
                  <a:srgbClr val="1A2233"/>
                </a:solidFill>
              </a:rPr>
              <a:t>is the only cue for distance</a:t>
            </a:r>
            <a:r>
              <a:rPr lang="en-US" sz="1450">
                <a:solidFill>
                  <a:srgbClr val="1A2233"/>
                </a:solidFill>
              </a:rPr>
              <a:t>,</a:t>
            </a:r>
            <a:r>
              <a:rPr i="0" lang="en-US" sz="1450" u="none" cap="none" strike="noStrike">
                <a:solidFill>
                  <a:srgbClr val="1A2233"/>
                </a:solidFill>
              </a:rPr>
              <a:t> the plot shows how it shrinks with range</a:t>
            </a:r>
            <a:endParaRPr/>
          </a:p>
          <a:p>
            <a:pPr indent="0" lvl="0" marL="0" marR="0" rtl="0" algn="just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1A2233"/>
                </a:solidFill>
              </a:rPr>
              <a:t>Unlike far-field plane waves, nearby sources produce curved wavefronts. The radial correction models this curvature, allowing the steering vectors to encode distance as well as direction</a:t>
            </a:r>
            <a:endParaRPr/>
          </a:p>
        </p:txBody>
      </p:sp>
      <p:pic>
        <p:nvPicPr>
          <p:cNvPr descr="fig_nearfield.png" id="183" name="Google Shape;18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55080" y="2103120"/>
            <a:ext cx="5394960" cy="2998302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3"/>
          <p:cNvSpPr txBox="1"/>
          <p:nvPr/>
        </p:nvSpPr>
        <p:spPr>
          <a:xfrm>
            <a:off x="6355080" y="5101415"/>
            <a:ext cx="5394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200" u="none" cap="none" strike="noStrike">
                <a:solidFill>
                  <a:srgbClr val="5B6472"/>
                </a:solidFill>
              </a:rPr>
              <a:t>Closer source → stronger low-frequency boost on the directional channels.</a:t>
            </a:r>
            <a:endParaRPr/>
          </a:p>
        </p:txBody>
      </p:sp>
      <p:pic>
        <p:nvPicPr>
          <p:cNvPr id="185" name="Google Shape;185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4830" y="5520853"/>
            <a:ext cx="5553075" cy="107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76900" y="5458941"/>
            <a:ext cx="3371850" cy="12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4"/>
          <p:cNvSpPr txBox="1"/>
          <p:nvPr/>
        </p:nvSpPr>
        <p:spPr>
          <a:xfrm>
            <a:off x="657130" y="922443"/>
            <a:ext cx="1097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A2233"/>
                </a:solidFill>
              </a:rPr>
              <a:t>The last 3 channels are always dead</a:t>
            </a:r>
            <a:endParaRPr sz="3000"/>
          </a:p>
        </p:txBody>
      </p:sp>
      <p:sp>
        <p:nvSpPr>
          <p:cNvPr id="192" name="Google Shape;192;p24"/>
          <p:cNvSpPr txBox="1"/>
          <p:nvPr/>
        </p:nvSpPr>
        <p:spPr>
          <a:xfrm>
            <a:off x="696355" y="1991845"/>
            <a:ext cx="5029200" cy="28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</a:rPr>
              <a:t>T</a:t>
            </a:r>
            <a:r>
              <a:rPr i="0" lang="en-US" sz="1600" u="none" cap="none" strike="noStrike">
                <a:solidFill>
                  <a:schemeClr val="dk1"/>
                </a:solidFill>
              </a:rPr>
              <a:t>he Zoom always works, but on the Zylia the estimates are </a:t>
            </a:r>
            <a:r>
              <a:rPr lang="en-US" sz="1600">
                <a:solidFill>
                  <a:schemeClr val="dk1"/>
                </a:solidFill>
              </a:rPr>
              <a:t>wrong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08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</a:rPr>
              <a:t>I</a:t>
            </a:r>
            <a:r>
              <a:rPr i="0" lang="en-US" sz="1600" u="none" cap="none" strike="noStrike">
                <a:solidFill>
                  <a:schemeClr val="dk1"/>
                </a:solidFill>
              </a:rPr>
              <a:t>n every single raw Zylia recording, capsules 17, 18 and 19 are bit-exact 0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08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A2233"/>
                </a:solidFill>
              </a:rPr>
              <a:t>It’s always the LAST three,  </a:t>
            </a:r>
            <a:r>
              <a:rPr i="0" lang="en-US" sz="1600" u="none" cap="none" strike="noStrike">
                <a:solidFill>
                  <a:srgbClr val="1A2233"/>
                </a:solidFill>
              </a:rPr>
              <a:t>never a random capsule, and it’s identical across every take I’ve made</a:t>
            </a:r>
            <a:endParaRPr/>
          </a:p>
          <a:p>
            <a:pPr indent="0" lvl="0" marL="0" marR="0" rtl="0" algn="just">
              <a:lnSpc>
                <a:spcPct val="108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rPr i="0" lang="en-US" sz="1600" u="none" cap="none" strike="noStrike">
                <a:solidFill>
                  <a:srgbClr val="1A2233"/>
                </a:solidFill>
              </a:rPr>
              <a:t>3rd-order ambisonics needs all capsules to reconstruct the 16 channels; 3 dead capsules corrupt the higher-order channels the Zylia depends on</a:t>
            </a:r>
            <a:endParaRPr/>
          </a:p>
        </p:txBody>
      </p:sp>
      <p:pic>
        <p:nvPicPr>
          <p:cNvPr descr="fig_deadchannels.png" id="193" name="Google Shape;19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0" y="1783080"/>
            <a:ext cx="5852160" cy="3128577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4"/>
          <p:cNvSpPr txBox="1"/>
          <p:nvPr/>
        </p:nvSpPr>
        <p:spPr>
          <a:xfrm>
            <a:off x="5943625" y="5018565"/>
            <a:ext cx="5852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200" u="none" cap="none" strike="noStrike">
                <a:solidFill>
                  <a:srgbClr val="5B6472"/>
                </a:solidFill>
              </a:rPr>
              <a:t>Real data</a:t>
            </a:r>
            <a:r>
              <a:rPr i="1" lang="en-US" sz="1200">
                <a:solidFill>
                  <a:srgbClr val="5B6472"/>
                </a:solidFill>
              </a:rPr>
              <a:t>: </a:t>
            </a:r>
            <a:r>
              <a:rPr i="1" lang="en-US" sz="1200" u="none" cap="none" strike="noStrike">
                <a:solidFill>
                  <a:srgbClr val="5B6472"/>
                </a:solidFill>
              </a:rPr>
              <a:t>my own recording zyliazm1front.wav (19 raw capsules).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5"/>
          <p:cNvSpPr txBox="1"/>
          <p:nvPr/>
        </p:nvSpPr>
        <p:spPr>
          <a:xfrm>
            <a:off x="640080" y="956543"/>
            <a:ext cx="1097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A2233"/>
                </a:solidFill>
              </a:rPr>
              <a:t>A</a:t>
            </a:r>
            <a:r>
              <a:rPr b="1" i="0" lang="en-US" sz="3000" u="none" cap="none" strike="noStrike">
                <a:solidFill>
                  <a:srgbClr val="1A2233"/>
                </a:solidFill>
              </a:rPr>
              <a:t> possible USB bottleneck</a:t>
            </a:r>
            <a:endParaRPr sz="3000"/>
          </a:p>
        </p:txBody>
      </p:sp>
      <p:sp>
        <p:nvSpPr>
          <p:cNvPr id="200" name="Google Shape;200;p25"/>
          <p:cNvSpPr txBox="1"/>
          <p:nvPr/>
        </p:nvSpPr>
        <p:spPr>
          <a:xfrm>
            <a:off x="640072" y="1958000"/>
            <a:ext cx="9822900" cy="27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</a:rPr>
              <a:t>The mic streams all 19 capsules  </a:t>
            </a:r>
            <a:r>
              <a:rPr i="0" lang="en-US" sz="1800" u="none" cap="none" strike="noStrike">
                <a:solidFill>
                  <a:schemeClr val="dk1"/>
                </a:solidFill>
              </a:rPr>
              <a:t>in each USB frame. If the link can’t move a full frame in time, the tail capsules (17/18/19) get starved and written as zero</a:t>
            </a:r>
            <a:endParaRPr sz="17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</a:rPr>
              <a:t>Zylia’s own log confirms it:  </a:t>
            </a:r>
            <a:r>
              <a:rPr i="0" lang="en-US" sz="1800" u="none" cap="none" strike="noStrike">
                <a:solidFill>
                  <a:schemeClr val="dk1"/>
                </a:solidFill>
              </a:rPr>
              <a:t>it records “Found drop … from microphone 17/18/19” every ~30 seconds, in every session</a:t>
            </a:r>
            <a:endParaRPr sz="17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</a:rPr>
              <a:t>Possible </a:t>
            </a:r>
            <a:r>
              <a:rPr b="1" i="0" lang="en-US" sz="1800" u="none" cap="none" strike="noStrike">
                <a:solidFill>
                  <a:schemeClr val="dk1"/>
                </a:solidFill>
              </a:rPr>
              <a:t>cause:  </a:t>
            </a:r>
            <a:r>
              <a:rPr i="0" lang="en-US" sz="1800" u="none" cap="none" strike="noStrike">
                <a:solidFill>
                  <a:schemeClr val="dk1"/>
                </a:solidFill>
              </a:rPr>
              <a:t>the USB link trained at USB 2.0 High-Speed instead of USB 3.0 SuperSpeed. At USB-2 bandwidth it can’t carry all 19 capsules</a:t>
            </a:r>
            <a:endParaRPr sz="17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</a:rPr>
              <a:t>Ruled out:  </a:t>
            </a:r>
            <a:r>
              <a:rPr i="0" lang="en-US" sz="1800" u="none" cap="none" strike="noStrike">
                <a:solidFill>
                  <a:schemeClr val="dk1"/>
                </a:solidFill>
              </a:rPr>
              <a:t>a dead capsule (survives on other conditions), and power management (re-tested with battery-saver off, selective-suspend off)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26"/>
          <p:cNvPicPr preferRelativeResize="0"/>
          <p:nvPr/>
        </p:nvPicPr>
        <p:blipFill rotWithShape="1">
          <a:blip r:embed="rId3">
            <a:alphaModFix/>
          </a:blip>
          <a:srcRect b="37170" l="0" r="0" t="0"/>
          <a:stretch/>
        </p:blipFill>
        <p:spPr>
          <a:xfrm>
            <a:off x="381575" y="458950"/>
            <a:ext cx="5637199" cy="206405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6"/>
          <p:cNvSpPr/>
          <p:nvPr/>
        </p:nvSpPr>
        <p:spPr>
          <a:xfrm>
            <a:off x="6018775" y="1416575"/>
            <a:ext cx="1698000" cy="148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B6472"/>
          </a:solidFill>
          <a:ln>
            <a:noFill/>
          </a:ln>
        </p:spPr>
        <p:txBody>
          <a:bodyPr anchorCtr="0" anchor="ctr" bIns="46450" lIns="92925" spcFirstLastPara="1" rIns="92925" wrap="square" tIns="464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2030" u="none" cap="none" strike="noStrike">
              <a:solidFill>
                <a:schemeClr val="dk1"/>
              </a:solidFill>
            </a:endParaRPr>
          </a:p>
        </p:txBody>
      </p:sp>
      <p:pic>
        <p:nvPicPr>
          <p:cNvPr id="207" name="Google Shape;207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16775" y="458950"/>
            <a:ext cx="3876824" cy="206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00275" y="3492900"/>
            <a:ext cx="4309801" cy="2175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6"/>
          <p:cNvSpPr/>
          <p:nvPr/>
        </p:nvSpPr>
        <p:spPr>
          <a:xfrm>
            <a:off x="9580800" y="2522999"/>
            <a:ext cx="148800" cy="9699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5B6472"/>
          </a:solidFill>
          <a:ln>
            <a:noFill/>
          </a:ln>
        </p:spPr>
        <p:txBody>
          <a:bodyPr anchorCtr="0" anchor="ctr" bIns="46450" lIns="92925" spcFirstLastPara="1" rIns="92925" wrap="square" tIns="464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2030" u="none" cap="none" strike="noStrike">
              <a:solidFill>
                <a:schemeClr val="dk1"/>
              </a:solidFill>
            </a:endParaRPr>
          </a:p>
        </p:txBody>
      </p:sp>
      <p:cxnSp>
        <p:nvCxnSpPr>
          <p:cNvPr id="210" name="Google Shape;210;p26"/>
          <p:cNvCxnSpPr/>
          <p:nvPr/>
        </p:nvCxnSpPr>
        <p:spPr>
          <a:xfrm flipH="1">
            <a:off x="2637600" y="808500"/>
            <a:ext cx="261000" cy="204300"/>
          </a:xfrm>
          <a:prstGeom prst="straightConnector1">
            <a:avLst/>
          </a:prstGeom>
          <a:noFill/>
          <a:ln cap="flat" cmpd="sng" w="28575">
            <a:solidFill>
              <a:srgbClr val="E5533C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1" name="Google Shape;211;p26"/>
          <p:cNvCxnSpPr/>
          <p:nvPr/>
        </p:nvCxnSpPr>
        <p:spPr>
          <a:xfrm flipH="1">
            <a:off x="9046225" y="711100"/>
            <a:ext cx="261000" cy="204300"/>
          </a:xfrm>
          <a:prstGeom prst="straightConnector1">
            <a:avLst/>
          </a:prstGeom>
          <a:noFill/>
          <a:ln cap="flat" cmpd="sng" w="28575">
            <a:solidFill>
              <a:srgbClr val="E5533C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2" name="Google Shape;212;p26"/>
          <p:cNvCxnSpPr/>
          <p:nvPr/>
        </p:nvCxnSpPr>
        <p:spPr>
          <a:xfrm flipH="1">
            <a:off x="9524663" y="5008325"/>
            <a:ext cx="261000" cy="204300"/>
          </a:xfrm>
          <a:prstGeom prst="straightConnector1">
            <a:avLst/>
          </a:prstGeom>
          <a:noFill/>
          <a:ln cap="flat" cmpd="sng" w="28575">
            <a:solidFill>
              <a:srgbClr val="E5533C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213" name="Google Shape;213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1575" y="3061425"/>
            <a:ext cx="6224175" cy="343555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6"/>
          <p:cNvSpPr/>
          <p:nvPr/>
        </p:nvSpPr>
        <p:spPr>
          <a:xfrm rot="10800000">
            <a:off x="6605675" y="4506125"/>
            <a:ext cx="923400" cy="148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B6472"/>
          </a:solidFill>
          <a:ln>
            <a:noFill/>
          </a:ln>
        </p:spPr>
        <p:txBody>
          <a:bodyPr anchorCtr="0" anchor="ctr" bIns="46450" lIns="92925" spcFirstLastPara="1" rIns="92925" wrap="square" tIns="464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2030" u="none" cap="none" strike="noStrike">
              <a:solidFill>
                <a:schemeClr val="dk1"/>
              </a:solidFill>
            </a:endParaRPr>
          </a:p>
        </p:txBody>
      </p:sp>
      <p:cxnSp>
        <p:nvCxnSpPr>
          <p:cNvPr id="215" name="Google Shape;215;p26"/>
          <p:cNvCxnSpPr/>
          <p:nvPr/>
        </p:nvCxnSpPr>
        <p:spPr>
          <a:xfrm flipH="1">
            <a:off x="6605663" y="3326850"/>
            <a:ext cx="261000" cy="204300"/>
          </a:xfrm>
          <a:prstGeom prst="straightConnector1">
            <a:avLst/>
          </a:prstGeom>
          <a:noFill/>
          <a:ln cap="flat" cmpd="sng" w="28575">
            <a:solidFill>
              <a:srgbClr val="E5533C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7"/>
          <p:cNvSpPr/>
          <p:nvPr/>
        </p:nvSpPr>
        <p:spPr>
          <a:xfrm>
            <a:off x="6671766" y="3280734"/>
            <a:ext cx="1827000" cy="160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B6472"/>
          </a:solidFill>
          <a:ln>
            <a:noFill/>
          </a:ln>
        </p:spPr>
        <p:txBody>
          <a:bodyPr anchorCtr="0" anchor="ctr" bIns="49975" lIns="99975" spcFirstLastPara="1" rIns="99975" wrap="square" tIns="499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2184" u="none" cap="none" strike="noStrike">
              <a:solidFill>
                <a:schemeClr val="dk1"/>
              </a:solidFill>
            </a:endParaRPr>
          </a:p>
        </p:txBody>
      </p:sp>
      <p:pic>
        <p:nvPicPr>
          <p:cNvPr id="221" name="Google Shape;22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4288" y="1725475"/>
            <a:ext cx="6297476" cy="327061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2" name="Google Shape;222;p27"/>
          <p:cNvCxnSpPr/>
          <p:nvPr/>
        </p:nvCxnSpPr>
        <p:spPr>
          <a:xfrm flipH="1">
            <a:off x="6008265" y="2591158"/>
            <a:ext cx="280800" cy="219900"/>
          </a:xfrm>
          <a:prstGeom prst="straightConnector1">
            <a:avLst/>
          </a:prstGeom>
          <a:noFill/>
          <a:ln cap="flat" cmpd="sng" w="30750">
            <a:solidFill>
              <a:srgbClr val="E5533C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223" name="Google Shape;223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98729" y="1725478"/>
            <a:ext cx="3263374" cy="340704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4" name="Google Shape;224;p27"/>
          <p:cNvCxnSpPr/>
          <p:nvPr/>
        </p:nvCxnSpPr>
        <p:spPr>
          <a:xfrm flipH="1">
            <a:off x="11536588" y="4475012"/>
            <a:ext cx="280800" cy="219900"/>
          </a:xfrm>
          <a:prstGeom prst="straightConnector1">
            <a:avLst/>
          </a:prstGeom>
          <a:noFill/>
          <a:ln cap="flat" cmpd="sng" w="30750">
            <a:solidFill>
              <a:srgbClr val="E5533C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